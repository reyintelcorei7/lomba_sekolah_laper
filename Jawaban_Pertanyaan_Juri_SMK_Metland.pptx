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914400"/>
          </a:xfrm>
          <a:prstGeom prst="rect">
            <a:avLst/>
          </a:prstGeom>
          <a:noFill/>
        </p:spPr>
        <p:txBody>
          <a:bodyPr wrap="square">
            <a:spAutoFit/>
          </a:bodyPr>
          <a:lstStyle/>
          <a:p>
            <a:pPr algn="ctr">
              <a:defRPr sz="4400" b="1">
                <a:solidFill>
                  <a:srgbClr val="FFFFFF"/>
                </a:solidFill>
                <a:latin typeface="Segoe UI"/>
              </a:defRPr>
            </a:pPr>
            <a:r>
              <a:t>JAWABAN PERTANYAAN JURI</a:t>
            </a:r>
          </a:p>
        </p:txBody>
      </p:sp>
      <p:sp>
        <p:nvSpPr>
          <p:cNvPr id="4" name="TextBox 3"/>
          <p:cNvSpPr txBox="1"/>
          <p:nvPr/>
        </p:nvSpPr>
        <p:spPr>
          <a:xfrm>
            <a:off x="914400" y="2286000"/>
            <a:ext cx="10058400" cy="731520"/>
          </a:xfrm>
          <a:prstGeom prst="rect">
            <a:avLst/>
          </a:prstGeom>
          <a:noFill/>
        </p:spPr>
        <p:txBody>
          <a:bodyPr wrap="square">
            <a:spAutoFit/>
          </a:bodyPr>
          <a:lstStyle/>
          <a:p>
            <a:pPr algn="ctr">
              <a:defRPr sz="2800" b="1">
                <a:solidFill>
                  <a:srgbClr val="007BFF"/>
                </a:solidFill>
                <a:latin typeface="Segoe UI"/>
              </a:defRPr>
            </a:pPr>
            <a:r>
              <a:t>Website SMK Pariwisata Metland School</a:t>
            </a:r>
          </a:p>
        </p:txBody>
      </p:sp>
      <p:sp>
        <p:nvSpPr>
          <p:cNvPr id="5" name="Rectangle 4"/>
          <p:cNvSpPr/>
          <p:nvPr/>
        </p:nvSpPr>
        <p:spPr>
          <a:xfrm>
            <a:off x="4114800" y="3200400"/>
            <a:ext cx="3657600" cy="36576"/>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657600"/>
            <a:ext cx="10058400" cy="457200"/>
          </a:xfrm>
          <a:prstGeom prst="rect">
            <a:avLst/>
          </a:prstGeom>
          <a:noFill/>
        </p:spPr>
        <p:txBody>
          <a:bodyPr wrap="square">
            <a:spAutoFit/>
          </a:bodyPr>
          <a:lstStyle/>
          <a:p>
            <a:pPr algn="ctr">
              <a:defRPr sz="1800" b="0">
                <a:solidFill>
                  <a:srgbClr val="00D27A"/>
                </a:solidFill>
                <a:latin typeface="Segoe UI"/>
              </a:defRPr>
            </a:pPr>
            <a:r>
              <a:t>Laravel 12  •  Tailwind CSS 4  •  Alpine.js  •  Vite 7  •  MySQL</a:t>
            </a:r>
          </a:p>
        </p:txBody>
      </p:sp>
      <p:sp>
        <p:nvSpPr>
          <p:cNvPr id="7" name="TextBox 6"/>
          <p:cNvSpPr txBox="1"/>
          <p:nvPr/>
        </p:nvSpPr>
        <p:spPr>
          <a:xfrm>
            <a:off x="914400" y="4572000"/>
            <a:ext cx="10058400" cy="457200"/>
          </a:xfrm>
          <a:prstGeom prst="rect">
            <a:avLst/>
          </a:prstGeom>
          <a:noFill/>
        </p:spPr>
        <p:txBody>
          <a:bodyPr wrap="square">
            <a:spAutoFit/>
          </a:bodyPr>
          <a:lstStyle/>
          <a:p>
            <a:pPr algn="ctr">
              <a:defRPr sz="1600" b="0">
                <a:solidFill>
                  <a:srgbClr val="B0B0C0"/>
                </a:solidFill>
                <a:latin typeface="Segoe UI"/>
              </a:defRPr>
            </a:pPr>
            <a:r>
              <a:t>Jurusan: Pengembangan Perangkat Lunak dan Gim (PPLG)</a:t>
            </a:r>
          </a:p>
        </p:txBody>
      </p:sp>
      <p:sp>
        <p:nvSpPr>
          <p:cNvPr id="8" name="TextBox 7"/>
          <p:cNvSpPr txBox="1"/>
          <p:nvPr/>
        </p:nvSpPr>
        <p:spPr>
          <a:xfrm>
            <a:off x="914400" y="5029200"/>
            <a:ext cx="10058400" cy="457200"/>
          </a:xfrm>
          <a:prstGeom prst="rect">
            <a:avLst/>
          </a:prstGeom>
          <a:noFill/>
        </p:spPr>
        <p:txBody>
          <a:bodyPr wrap="square">
            <a:spAutoFit/>
          </a:bodyPr>
          <a:lstStyle/>
          <a:p>
            <a:pPr algn="ctr">
              <a:defRPr sz="1600" b="0">
                <a:solidFill>
                  <a:srgbClr val="B0B0C0"/>
                </a:solidFill>
                <a:latin typeface="Segoe UI"/>
              </a:defRPr>
            </a:pPr>
            <a:r>
              <a:t>SMK Pariwisata Metland School</a:t>
            </a:r>
          </a:p>
        </p:txBody>
      </p:sp>
      <p:sp>
        <p:nvSpPr>
          <p:cNvPr id="9" name="Rectangle 8"/>
          <p:cNvSpPr/>
          <p:nvPr/>
        </p:nvSpPr>
        <p:spPr>
          <a:xfrm>
            <a:off x="0" y="6784848"/>
            <a:ext cx="12191695" cy="73152"/>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ARSITEKTUR &amp; TEKNOLOGI — Backend (Laravel)</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200" b="1">
                <a:solidFill>
                  <a:srgbClr val="FFB800"/>
                </a:solidFill>
                <a:latin typeface="Segoe UI"/>
              </a:defRPr>
            </a:pPr>
            <a:r>
              <a:t>Q: Versi Laravel berapa yang digunakan? Kenapa memilih versi itu?</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100" b="0">
                <a:solidFill>
                  <a:srgbClr val="B0B0C0"/>
                </a:solidFill>
                <a:latin typeface="Segoe UI"/>
              </a:defRPr>
            </a:pPr>
            <a:r>
              <a:t>→ Laravel 12 (rilis Februari 2026). Dipilih karena versi terbaru dengan performa optimal, fitur keamanan terkini, support PHP 8.2+, dan Long-Term Support.</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200" b="1">
                <a:solidFill>
                  <a:srgbClr val="FFB800"/>
                </a:solidFill>
                <a:latin typeface="Segoe UI"/>
              </a:defRPr>
            </a:pPr>
            <a:r>
              <a:t>Q: Apakah menggunakan arsitektur MVC secara penuh?</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100" b="0">
                <a:solidFill>
                  <a:srgbClr val="B0B0C0"/>
                </a:solidFill>
                <a:latin typeface="Segoe UI"/>
              </a:defRPr>
            </a:pPr>
            <a:r>
              <a:t>→ Ya, 100% MVC. Model (13 file di app/Models), View (50+ Blade template di resources/views), Controller (20+ di app/Http/Controllers &amp; Admin/). Ditambah Middleware, Traits, dan Services.</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200" b="1">
                <a:solidFill>
                  <a:srgbClr val="FFB800"/>
                </a:solidFill>
                <a:latin typeface="Segoe UI"/>
              </a:defRPr>
            </a:pPr>
            <a:r>
              <a:t>Q: Apakah menggunakan Laravel Sanctum/Passport untuk autentikasi?</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100" b="0">
                <a:solidFill>
                  <a:srgbClr val="B0B0C0"/>
                </a:solidFill>
                <a:latin typeface="Segoe UI"/>
              </a:defRPr>
            </a:pPr>
            <a:r>
              <a:t>→ Menggunakan Laravel Breeze (session-based auth) + custom admin guard. Tidak pakai Sanctum/Passport karena ini bukan API-based app. Breeze lebih ringan untuk server-side rendering.</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200" b="1">
                <a:solidFill>
                  <a:srgbClr val="FFB800"/>
                </a:solidFill>
                <a:latin typeface="Segoe UI"/>
              </a:defRPr>
            </a:pPr>
            <a:r>
              <a:t>Q: Bagaimana mengelola routing? Pakai route group, middleware, prefix?</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100" b="0">
                <a:solidFill>
                  <a:srgbClr val="B0B0C0"/>
                </a:solidFill>
                <a:latin typeface="Segoe UI"/>
              </a:defRPr>
            </a:pPr>
            <a:r>
              <a:t>→ Ya, menggunakan ketiganya. Route::prefix('admin') + name('admin.') + middleware(['admin.auth','two-factor']). Route::prefix('ppdb') + middleware('throttle:3,1'). Juga Route::fallback untuk custom 404.</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200" b="1">
                <a:solidFill>
                  <a:srgbClr val="FFB800"/>
                </a:solidFill>
                <a:latin typeface="Segoe UI"/>
              </a:defRPr>
            </a:pPr>
            <a:r>
              <a:t>Q: Apakah menggunakan Eloquent ORM atau Query Builder?</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100" b="0">
                <a:solidFill>
                  <a:srgbClr val="B0B0C0"/>
                </a:solidFill>
                <a:latin typeface="Segoe UI"/>
              </a:defRPr>
            </a:pPr>
            <a:r>
              <a:t>→ Dominan Eloquent ORM. Contoh: Student::with('program')-&gt;latest()-&gt;paginate(15). Eloquent dipakai karena aman dari SQL Injection (prepared statements otomatis) dan mudah dibaca.</a:t>
            </a:r>
          </a:p>
        </p:txBody>
      </p:sp>
      <p:sp>
        <p:nvSpPr>
          <p:cNvPr id="14" name="TextBox 13"/>
          <p:cNvSpPr txBox="1"/>
          <p:nvPr/>
        </p:nvSpPr>
        <p:spPr>
          <a:xfrm>
            <a:off x="731520" y="4754880"/>
            <a:ext cx="10515600" cy="365760"/>
          </a:xfrm>
          <a:prstGeom prst="rect">
            <a:avLst/>
          </a:prstGeom>
          <a:noFill/>
        </p:spPr>
        <p:txBody>
          <a:bodyPr wrap="square">
            <a:spAutoFit/>
          </a:bodyPr>
          <a:lstStyle/>
          <a:p>
            <a:pPr algn="l">
              <a:defRPr sz="1200" b="1">
                <a:solidFill>
                  <a:srgbClr val="FFB800"/>
                </a:solidFill>
                <a:latin typeface="Segoe UI"/>
              </a:defRPr>
            </a:pPr>
            <a:r>
              <a:t>Q: Apakah ada penggunaan Laravel Queue/Job?</a:t>
            </a:r>
          </a:p>
        </p:txBody>
      </p:sp>
      <p:sp>
        <p:nvSpPr>
          <p:cNvPr id="15" name="TextBox 14"/>
          <p:cNvSpPr txBox="1"/>
          <p:nvPr/>
        </p:nvSpPr>
        <p:spPr>
          <a:xfrm>
            <a:off x="914400" y="5074920"/>
            <a:ext cx="10332720" cy="457200"/>
          </a:xfrm>
          <a:prstGeom prst="rect">
            <a:avLst/>
          </a:prstGeom>
          <a:noFill/>
        </p:spPr>
        <p:txBody>
          <a:bodyPr wrap="square">
            <a:spAutoFit/>
          </a:bodyPr>
          <a:lstStyle/>
          <a:p>
            <a:pPr algn="l">
              <a:defRPr sz="1100" b="0">
                <a:solidFill>
                  <a:srgbClr val="B0B0C0"/>
                </a:solidFill>
                <a:latin typeface="Segoe UI"/>
              </a:defRPr>
            </a:pPr>
            <a:r>
              <a:t>→ Ya, Queue digunakan untuk pengiriman email verifikasi PPDB (PPDBVerificationMail). Config: QUEUE_CONNECTION=database. Dijalankan dengan: php artisan queue:listen.</a:t>
            </a:r>
          </a:p>
        </p:txBody>
      </p:sp>
      <p:sp>
        <p:nvSpPr>
          <p:cNvPr id="16" name="TextBox 15"/>
          <p:cNvSpPr txBox="1"/>
          <p:nvPr/>
        </p:nvSpPr>
        <p:spPr>
          <a:xfrm>
            <a:off x="731520" y="5486400"/>
            <a:ext cx="10515600" cy="365760"/>
          </a:xfrm>
          <a:prstGeom prst="rect">
            <a:avLst/>
          </a:prstGeom>
          <a:noFill/>
        </p:spPr>
        <p:txBody>
          <a:bodyPr wrap="square">
            <a:spAutoFit/>
          </a:bodyPr>
          <a:lstStyle/>
          <a:p>
            <a:pPr algn="l">
              <a:defRPr sz="1200" b="1">
                <a:solidFill>
                  <a:srgbClr val="FFB800"/>
                </a:solidFill>
                <a:latin typeface="Segoe UI"/>
              </a:defRPr>
            </a:pPr>
            <a:r>
              <a:t>Q: Bagaimana mengelola environment variable (.env)?</a:t>
            </a:r>
          </a:p>
        </p:txBody>
      </p:sp>
      <p:sp>
        <p:nvSpPr>
          <p:cNvPr id="17" name="TextBox 16"/>
          <p:cNvSpPr txBox="1"/>
          <p:nvPr/>
        </p:nvSpPr>
        <p:spPr>
          <a:xfrm>
            <a:off x="914400" y="5806440"/>
            <a:ext cx="10332720" cy="457200"/>
          </a:xfrm>
          <a:prstGeom prst="rect">
            <a:avLst/>
          </a:prstGeom>
          <a:noFill/>
        </p:spPr>
        <p:txBody>
          <a:bodyPr wrap="square">
            <a:spAutoFit/>
          </a:bodyPr>
          <a:lstStyle/>
          <a:p>
            <a:pPr algn="l">
              <a:defRPr sz="1100" b="0">
                <a:solidFill>
                  <a:srgbClr val="B0B0C0"/>
                </a:solidFill>
                <a:latin typeface="Segoe UI"/>
              </a:defRPr>
            </a:pPr>
            <a:r>
              <a:t>→ File .env untuk konfigurasi sensitif (DB credentials, APP_KEY, MAIL settings). Ada .env.example sebagai template. .env masuk .gitignore sehingga tidak ter-push ke Git.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ARSITEKTUR &amp; TEKNOLOGI — Frontend</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400" b="1">
                <a:solidFill>
                  <a:srgbClr val="FFB800"/>
                </a:solidFill>
                <a:latin typeface="Segoe UI"/>
              </a:defRPr>
            </a:pPr>
            <a:r>
              <a:t>Q: Teknologi frontend apa yang digunakan?</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300" b="0">
                <a:solidFill>
                  <a:srgbClr val="B0B0C0"/>
                </a:solidFill>
                <a:latin typeface="Segoe UI"/>
              </a:defRPr>
            </a:pPr>
            <a:r>
              <a:t>→ Blade Templating Engine (Laravel) + Alpine.js 3.15.8 untuk interaktivitas + Livewire 3.7 untuk komponen dinamis. Tidak menggunakan React/Vue karena overkill untuk website sekolah.</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400" b="1">
                <a:solidFill>
                  <a:srgbClr val="FFB800"/>
                </a:solidFill>
                <a:latin typeface="Segoe UI"/>
              </a:defRPr>
            </a:pPr>
            <a:r>
              <a:t>Q: Apakah pakai CSS Framework? Kenapa memilihnya?</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300" b="0">
                <a:solidFill>
                  <a:srgbClr val="B0B0C0"/>
                </a:solidFill>
                <a:latin typeface="Segoe UI"/>
              </a:defRPr>
            </a:pPr>
            <a:r>
              <a:t>→ Tailwind CSS v4.1.18. Dipilih karena: Utility-first (development cepat), Responsive built-in (md:, lg: prefix), Tree-shaking otomatis (CSS minimal), dan Dark mode support.</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400" b="1">
                <a:solidFill>
                  <a:srgbClr val="FFB800"/>
                </a:solidFill>
                <a:latin typeface="Segoe UI"/>
              </a:defRPr>
            </a:pPr>
            <a:r>
              <a:t>Q: Bagaimana cara menghandle state management di frontend?</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300" b="0">
                <a:solidFill>
                  <a:srgbClr val="B0B0C0"/>
                </a:solidFill>
                <a:latin typeface="Segoe UI"/>
              </a:defRPr>
            </a:pPr>
            <a:r>
              <a:t>→ Alpine.js Store untuk state global (contoh: bahasa aktif disimpan di Alpine.store('lang')). LocalStorage untuk persistensi pilihan bahasa. Livewire untuk state komponen server-side.</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400" b="1">
                <a:solidFill>
                  <a:srgbClr val="FFB800"/>
                </a:solidFill>
                <a:latin typeface="Segoe UI"/>
              </a:defRPr>
            </a:pPr>
            <a:r>
              <a:t>Q: Apakah menggunakan bundler seperti Vite atau Webpack?</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300" b="0">
                <a:solidFill>
                  <a:srgbClr val="B0B0C0"/>
                </a:solidFill>
                <a:latin typeface="Segoe UI"/>
              </a:defRPr>
            </a:pPr>
            <a:r>
              <a:t>→ Vite 7.0.7 sebagai bundler. Dipilih karena: Hot Module Replacement (HMR) super cepat, native ES modules, dan official support dari Laravel. Plugin: laravel-vite-plugin + @tailwindcss/vite.</a:t>
            </a:r>
          </a:p>
        </p:txBody>
      </p:sp>
      <p:sp>
        <p:nvSpPr>
          <p:cNvPr id="12" name="TextBox 11"/>
          <p:cNvSpPr txBox="1"/>
          <p:nvPr/>
        </p:nvSpPr>
        <p:spPr>
          <a:xfrm>
            <a:off x="731520" y="4114800"/>
            <a:ext cx="10058400" cy="274320"/>
          </a:xfrm>
          <a:prstGeom prst="rect">
            <a:avLst/>
          </a:prstGeom>
          <a:noFill/>
        </p:spPr>
        <p:txBody>
          <a:bodyPr wrap="square">
            <a:spAutoFit/>
          </a:bodyPr>
          <a:lstStyle/>
          <a:p>
            <a:pPr algn="l">
              <a:defRPr sz="1600" b="1">
                <a:solidFill>
                  <a:srgbClr val="007BFF"/>
                </a:solidFill>
                <a:latin typeface="Segoe UI"/>
              </a:defRPr>
            </a:pPr>
            <a:r>
              <a:t>Tech Stack Summary:</a:t>
            </a:r>
          </a:p>
        </p:txBody>
      </p:sp>
      <p:sp>
        <p:nvSpPr>
          <p:cNvPr id="13" name="TextBox 12"/>
          <p:cNvSpPr txBox="1"/>
          <p:nvPr/>
        </p:nvSpPr>
        <p:spPr>
          <a:xfrm>
            <a:off x="914400" y="4572000"/>
            <a:ext cx="10058400" cy="1828800"/>
          </a:xfrm>
          <a:prstGeom prst="rect">
            <a:avLst/>
          </a:prstGeom>
          <a:noFill/>
        </p:spPr>
        <p:txBody>
          <a:bodyPr wrap="square">
            <a:spAutoFit/>
          </a:bodyPr>
          <a:lstStyle/>
          <a:p>
            <a:pPr>
              <a:spcAft>
                <a:spcPts val="600"/>
              </a:spcAft>
              <a:defRPr sz="1300">
                <a:solidFill>
                  <a:srgbClr val="B0B0C0"/>
                </a:solidFill>
                <a:latin typeface="Segoe UI"/>
              </a:defRPr>
            </a:pPr>
            <a:r>
              <a:t>📦 Blade Template Engine — Server-side rendering, SEO-friendly</a:t>
            </a:r>
          </a:p>
          <a:p>
            <a:pPr>
              <a:spcAft>
                <a:spcPts val="600"/>
              </a:spcAft>
              <a:defRPr sz="1300">
                <a:solidFill>
                  <a:srgbClr val="B0B0C0"/>
                </a:solidFill>
                <a:latin typeface="Segoe UI"/>
              </a:defRPr>
            </a:pPr>
            <a:r>
              <a:t>🏔️ Alpine.js 3.15.8 — Lightweight reactive framework (~15KB)</a:t>
            </a:r>
          </a:p>
          <a:p>
            <a:pPr>
              <a:spcAft>
                <a:spcPts val="600"/>
              </a:spcAft>
              <a:defRPr sz="1300">
                <a:solidFill>
                  <a:srgbClr val="B0B0C0"/>
                </a:solidFill>
                <a:latin typeface="Segoe UI"/>
              </a:defRPr>
            </a:pPr>
            <a:r>
              <a:t>⚡ Livewire 3.7 — Dynamic server-rendered components</a:t>
            </a:r>
          </a:p>
          <a:p>
            <a:pPr>
              <a:spcAft>
                <a:spcPts val="600"/>
              </a:spcAft>
              <a:defRPr sz="1300">
                <a:solidFill>
                  <a:srgbClr val="B0B0C0"/>
                </a:solidFill>
                <a:latin typeface="Segoe UI"/>
              </a:defRPr>
            </a:pPr>
            <a:r>
              <a:t>🎨 Tailwind CSS 4.1.18 — Utility-first CSS framework</a:t>
            </a:r>
          </a:p>
          <a:p>
            <a:pPr>
              <a:spcAft>
                <a:spcPts val="600"/>
              </a:spcAft>
              <a:defRPr sz="1300">
                <a:solidFill>
                  <a:srgbClr val="B0B0C0"/>
                </a:solidFill>
                <a:latin typeface="Segoe UI"/>
              </a:defRPr>
            </a:pPr>
            <a:r>
              <a:t>⚙️ Vite 7.0.7 — Next-generation frontend tooling</a:t>
            </a:r>
          </a:p>
          <a:p>
            <a:pPr>
              <a:spcAft>
                <a:spcPts val="600"/>
              </a:spcAft>
              <a:defRPr sz="1300">
                <a:solidFill>
                  <a:srgbClr val="B0B0C0"/>
                </a:solidFill>
                <a:latin typeface="Segoe UI"/>
              </a:defRPr>
            </a:pPr>
            <a:r>
              <a:t>🔤 Font: Poppins (Google Fonts) — Weight 300-800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ARSITEKTUR &amp; TEKNOLOGI — Database</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300" b="1">
                <a:solidFill>
                  <a:srgbClr val="FFB800"/>
                </a:solidFill>
                <a:latin typeface="Segoe UI"/>
              </a:defRPr>
            </a:pPr>
            <a:r>
              <a:t>Q: Database apa yang digunakan?</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200" b="0">
                <a:solidFill>
                  <a:srgbClr val="B0B0C0"/>
                </a:solidFill>
                <a:latin typeface="Segoe UI"/>
              </a:defRPr>
            </a:pPr>
            <a:r>
              <a:t>→ MySQL/MariaDB untuk production (via Laragon). Support juga SQLite untuk development cepat. Konfigurasi via .env: DB_CONNECTION=mysql.</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300" b="1">
                <a:solidFill>
                  <a:srgbClr val="FFB800"/>
                </a:solidFill>
                <a:latin typeface="Segoe UI"/>
              </a:defRPr>
            </a:pPr>
            <a:r>
              <a:t>Q: Berapa jumlah tabel yang ada di database?</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200" b="0">
                <a:solidFill>
                  <a:srgbClr val="B0B0C0"/>
                </a:solidFill>
                <a:latin typeface="Segoe UI"/>
              </a:defRPr>
            </a:pPr>
            <a:r>
              <a:t>→ 22 tabel via migration. Termasuk: users, admins, students, programs, news, extracurriculars, organizations, alumni, program_keahlians, program_skills, program_careers, website_settings, roles, permissions, role_permission, admin_role, audit_logs, cache, jobs, job_batches, failed_jobs, sessions.</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300" b="1">
                <a:solidFill>
                  <a:srgbClr val="FFB800"/>
                </a:solidFill>
                <a:latin typeface="Segoe UI"/>
              </a:defRPr>
            </a:pPr>
            <a:r>
              <a:t>Q: Apakah menggunakan Migration dan Seeder Laravel?</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200" b="0">
                <a:solidFill>
                  <a:srgbClr val="B0B0C0"/>
                </a:solidFill>
                <a:latin typeface="Segoe UI"/>
              </a:defRPr>
            </a:pPr>
            <a:r>
              <a:t>→ Ya! 22 migration files di database/migrations/. 4 Seeder: AdminSeeder, ProgramSeeder, WebsiteSettingSeeder, RolePermissionSeeder. Dijalankan: php artisan migrate &amp;&amp; php artisan db:seed.</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300" b="1">
                <a:solidFill>
                  <a:srgbClr val="FFB800"/>
                </a:solidFill>
                <a:latin typeface="Segoe UI"/>
              </a:defRPr>
            </a:pPr>
            <a:r>
              <a:t>Q: Apakah ada relasi antar tabel? Sebutkan contohnya.</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200" b="0">
                <a:solidFill>
                  <a:srgbClr val="B0B0C0"/>
                </a:solidFill>
                <a:latin typeface="Segoe UI"/>
              </a:defRPr>
            </a:pPr>
            <a:r>
              <a:t>→ Ya. One-to-Many: Program hasMany Students (1 jurusan punya banyak siswa). Many-to-Many: Admin belongsToMany Roles (via admin_role), Role belongsToMany Permissions (via role_permission). BelongsTo: Student belongsTo Program, AuditLog belongsTo Admin.</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300" b="1">
                <a:solidFill>
                  <a:srgbClr val="FFB800"/>
                </a:solidFill>
                <a:latin typeface="Segoe UI"/>
              </a:defRPr>
            </a:pPr>
            <a:r>
              <a:t>Q: Apakah melakukan indexing pada kolom tertentu?</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200" b="0">
                <a:solidFill>
                  <a:srgbClr val="B0B0C0"/>
                </a:solidFill>
                <a:latin typeface="Segoe UI"/>
              </a:defRPr>
            </a:pPr>
            <a:r>
              <a:t>→ Ya, Laravel otomatis membuat index pada primary key (id), foreign key (program_id di students), dan kolom unique (email). Slug di news, extracurriculars, dan organizations juga digunakan untuk lookup query.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KONTEN &amp; FITUR WEBSITE — Kelengkapan Konten</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200" b="1">
                <a:solidFill>
                  <a:srgbClr val="FFB800"/>
                </a:solidFill>
                <a:latin typeface="Segoe UI"/>
              </a:defRPr>
            </a:pPr>
            <a:r>
              <a:t>Q: Tunjukkan letak Profile Sekolah, Visi Misi, Program Keahlian, Ekskul, Organisasi, Alumni, Berita, Kontak.</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100" b="0">
                <a:solidFill>
                  <a:srgbClr val="B0B0C0"/>
                </a:solidFill>
                <a:latin typeface="Segoe UI"/>
              </a:defRPr>
            </a:pPr>
            <a:r>
              <a:t>→ Profile &amp; Visi Misi → /about. Program Keahlian → /prokeh (5 sub-halaman: akuntansi, dkv, hotel, kuliner, pplg). Ekskul → /eskul. Organisasi → /organisasi. Alumni → /alumni. Berita → /news. Kontak → di footer &amp; halaman About. PPDB → /ppdb.</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200" b="1">
                <a:solidFill>
                  <a:srgbClr val="FFB800"/>
                </a:solidFill>
                <a:latin typeface="Segoe UI"/>
              </a:defRPr>
            </a:pPr>
            <a:r>
              <a:t>Q: Apakah semua konten dinamis atau statis?</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100" b="0">
                <a:solidFill>
                  <a:srgbClr val="B0B0C0"/>
                </a:solidFill>
                <a:latin typeface="Segoe UI"/>
              </a:defRPr>
            </a:pPr>
            <a:r>
              <a:t>→ Kombinasi keduanya. DINAMIS (via admin panel): Berita, Eskul, Organisasi, Alumni, PPDB, Website Settings (logo, hero text). STATIS: Halaman About, Program Keahlian (konten fixed di Blade template). Admin bisa mengubah konten dinamis tanpa coding.</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200" b="1">
                <a:solidFill>
                  <a:srgbClr val="FFB800"/>
                </a:solidFill>
                <a:latin typeface="Segoe UI"/>
              </a:defRPr>
            </a:pPr>
            <a:r>
              <a:t>Q: Bagaimana cara admin menambah/mengedit berita sekolah?</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100" b="0">
                <a:solidFill>
                  <a:srgbClr val="B0B0C0"/>
                </a:solidFill>
                <a:latin typeface="Segoe UI"/>
              </a:defRPr>
            </a:pPr>
            <a:r>
              <a:t>→ Admin Panel → Menu News → Create News. Isi: Judul, Kategori, Konten (rich text), Upload gambar, Toggle Featured/Published. Slug auto-generate dari judul. Admin bisa Edit, Delete, Toggle Publish status.</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200" b="1">
                <a:solidFill>
                  <a:srgbClr val="FFB800"/>
                </a:solidFill>
                <a:latin typeface="Segoe UI"/>
              </a:defRPr>
            </a:pPr>
            <a:r>
              <a:t>Q: Bagaimana cara menampilkan karya/product siswa?</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100" b="0">
                <a:solidFill>
                  <a:srgbClr val="B0B0C0"/>
                </a:solidFill>
                <a:latin typeface="Segoe UI"/>
              </a:defRPr>
            </a:pPr>
            <a:r>
              <a:t>→ Karya siswa ditampilkan melalui halaman Programme Keahlian masing-masing (DKV, PPLG, dll). Upload file dilakukan via admin panel. Fitur upload mendukung validasi tipe (jpeg, png, jpg) dan ukuran (max 2MB/5MB).</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200" b="1">
                <a:solidFill>
                  <a:srgbClr val="FFB800"/>
                </a:solidFill>
                <a:latin typeface="Segoe UI"/>
              </a:defRPr>
            </a:pPr>
            <a:r>
              <a:t>Q: Untuk data alumni, apakah alumni bisa mendaftar sendiri?</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100" b="0">
                <a:solidFill>
                  <a:srgbClr val="B0B0C0"/>
                </a:solidFill>
                <a:latin typeface="Segoe UI"/>
              </a:defRPr>
            </a:pPr>
            <a:r>
              <a:t>→ Alumni di-input oleh admin melalui Admin Panel → Menu Alumni → Create Alumni. Data meliputi: nama, tahun lulus, program, posisi saat ini, perusahaan/universitas, testimonial, foto. Admin bisa toggle active/featured.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KONTEN &amp; FITUR — Fitur Tambahan</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300" b="1">
                <a:solidFill>
                  <a:srgbClr val="FFB800"/>
                </a:solidFill>
                <a:latin typeface="Segoe UI"/>
              </a:defRPr>
            </a:pPr>
            <a:r>
              <a:t>Q: Fitur tambahan apa saja yang dibuat di luar ketentuan minimal?</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200" b="0">
                <a:solidFill>
                  <a:srgbClr val="B0B0C0"/>
                </a:solidFill>
                <a:latin typeface="Segoe UI"/>
              </a:defRPr>
            </a:pPr>
            <a:r>
              <a:t>→ 1) Two-Factor Authentication (2FA) dengan Google Authenticator. 2) Rate Limiting di form login &amp; PPDB. 3) Audit Log System untuk tracking semua perubahan data. 4) RBAC (Role-Based Access Control) dengan Role &amp; Permission. 5) File Upload Scanner untuk keamanan. 6) Email Verification untuk PPDB. 7) Export data siswa ke CSV. 8) Bilingual (ID/EN).</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300" b="1">
                <a:solidFill>
                  <a:srgbClr val="FFB800"/>
                </a:solidFill>
                <a:latin typeface="Segoe UI"/>
              </a:defRPr>
            </a:pPr>
            <a:r>
              <a:t>Q: Apakah ada fitur pencarian?</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200" b="0">
                <a:solidFill>
                  <a:srgbClr val="B0B0C0"/>
                </a:solidFill>
                <a:latin typeface="Segoe UI"/>
              </a:defRPr>
            </a:pPr>
            <a:r>
              <a:t>→ Ya! Pencarian ada di: Admin → Students (search by nama/email), News (filter by kategori, search by judul). Implementasi: query-&gt;where('full_name', 'like', "%{search}%"). Juga ada filter by status (pending/accepted/rejected).</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300" b="1">
                <a:solidFill>
                  <a:srgbClr val="FFB800"/>
                </a:solidFill>
                <a:latin typeface="Segoe UI"/>
              </a:defRPr>
            </a:pPr>
            <a:r>
              <a:t>Q: Apakah ada dashboard admin?</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200" b="0">
                <a:solidFill>
                  <a:srgbClr val="B0B0C0"/>
                </a:solidFill>
                <a:latin typeface="Segoe UI"/>
              </a:defRPr>
            </a:pPr>
            <a:r>
              <a:t>→ Ya. Dashboard menampilkan statistik: jumlah pendaftar PPDB (pending/accepted/rejected), jumlah berita, jumlah eskul, jumlah organisasi, jumlah alumni. Hanya admin yang ter-autentikasi + 2FA verified yang bisa mengakses.</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300" b="1">
                <a:solidFill>
                  <a:srgbClr val="FFB800"/>
                </a:solidFill>
                <a:latin typeface="Segoe UI"/>
              </a:defRPr>
            </a:pPr>
            <a:r>
              <a:t>Q: Apakah ada role/permission berbeda di admin?</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200" b="0">
                <a:solidFill>
                  <a:srgbClr val="B0B0C0"/>
                </a:solidFill>
                <a:latin typeface="Segoe UI"/>
              </a:defRPr>
            </a:pPr>
            <a:r>
              <a:t>→ Ya, menggunakan RBAC custom. Model: Role &amp; Permission. Tabel pivot: role_permission &amp; admin_role. Super Admin bypass semua permission. Trait HasRoles menyediakan: assignRole(), hasRole(), hasPermission(), getAllPermissions(). Middleware CheckPermission untuk proteksi route.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MULTI-BAHASA (Indonesia &amp; Inggris)</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200" b="1">
                <a:solidFill>
                  <a:srgbClr val="FFB800"/>
                </a:solidFill>
                <a:latin typeface="Segoe UI"/>
              </a:defRPr>
            </a:pPr>
            <a:r>
              <a:t>Q: Bagaimana cara mengimplementasikan fitur ganti bahasa?</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100" b="0">
                <a:solidFill>
                  <a:srgbClr val="B0B0C0"/>
                </a:solidFill>
                <a:latin typeface="Segoe UI"/>
              </a:defRPr>
            </a:pPr>
            <a:r>
              <a:t>→ Menggunakan Alpine.js Store + JavaScript translations. File public/js/translations.js menyimpan semua teks dalam 2 bahasa. Alpine.store('lang') mengelola state bahasa aktif. Fungsi t(key) mengembalikan teks sesuai bahasa.</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200" b="1">
                <a:solidFill>
                  <a:srgbClr val="FFB800"/>
                </a:solidFill>
                <a:latin typeface="Segoe UI"/>
              </a:defRPr>
            </a:pPr>
            <a:r>
              <a:t>Q: Apakah menggunakan Laravel Localization atau package lain?</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100" b="0">
                <a:solidFill>
                  <a:srgbClr val="B0B0C0"/>
                </a:solidFill>
                <a:latin typeface="Segoe UI"/>
              </a:defRPr>
            </a:pPr>
            <a:r>
              <a:t>→ Menggunakan custom client-side translation dengan Alpine.js, bukan Laravel Localization. Alasan: lebih responsif (tanpa reload halaman), state tersimpan di localStorage, dan cocok untuk SPA-like experience di halaman publik.</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200" b="1">
                <a:solidFill>
                  <a:srgbClr val="FFB800"/>
                </a:solidFill>
                <a:latin typeface="Segoe UI"/>
              </a:defRPr>
            </a:pPr>
            <a:r>
              <a:t>Q: Apakah semua konten dinamis bisa ditranslasi?</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100" b="0">
                <a:solidFill>
                  <a:srgbClr val="B0B0C0"/>
                </a:solidFill>
                <a:latin typeface="Segoe UI"/>
              </a:defRPr>
            </a:pPr>
            <a:r>
              <a:t>→ Konten UI/navigasi → Ya, via translations.js. Konten dari database (berita, eskul, alumni) → Saat ini dalam Bahasa Indonesia. Untuk konten DB bilingual, bisa dikembangkan dengan kolom title_en, content_en di tabel terkait.</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200" b="1">
                <a:solidFill>
                  <a:srgbClr val="FFB800"/>
                </a:solidFill>
                <a:latin typeface="Segoe UI"/>
              </a:defRPr>
            </a:pPr>
            <a:r>
              <a:t>Q: Di mana tombol switch bahasa ditempatkan?</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100" b="0">
                <a:solidFill>
                  <a:srgbClr val="B0B0C0"/>
                </a:solidFill>
                <a:latin typeface="Segoe UI"/>
              </a:defRPr>
            </a:pPr>
            <a:r>
              <a:t>→ Di Navbar (header), tersedia untuk semua pengunjung tanpa perlu login. Toggle antara ID 🇮🇩 dan EN 🇬🇧. Implementasi: &lt;button @click="$store.lang.toggle()"&gt;</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200" b="1">
                <a:solidFill>
                  <a:srgbClr val="FFB800"/>
                </a:solidFill>
                <a:latin typeface="Segoe UI"/>
              </a:defRPr>
            </a:pPr>
            <a:r>
              <a:t>Q: Apakah pilihan bahasa tersimpan saat berpindah halaman?</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100" b="0">
                <a:solidFill>
                  <a:srgbClr val="B0B0C0"/>
                </a:solidFill>
                <a:latin typeface="Segoe UI"/>
              </a:defRPr>
            </a:pPr>
            <a:r>
              <a:t>→ Ya! Disimpan di localStorage browser. Kode: localStorage.setItem('lang', this.current). Saat halaman dimuat: localStorage.getItem('lang') || 'id'. Pilihan bahasa persisten sampai user menghapus data browser.</a:t>
            </a:r>
          </a:p>
        </p:txBody>
      </p:sp>
      <p:sp>
        <p:nvSpPr>
          <p:cNvPr id="14" name="TextBox 13"/>
          <p:cNvSpPr txBox="1"/>
          <p:nvPr/>
        </p:nvSpPr>
        <p:spPr>
          <a:xfrm>
            <a:off x="731520" y="4754880"/>
            <a:ext cx="10515600" cy="365760"/>
          </a:xfrm>
          <a:prstGeom prst="rect">
            <a:avLst/>
          </a:prstGeom>
          <a:noFill/>
        </p:spPr>
        <p:txBody>
          <a:bodyPr wrap="square">
            <a:spAutoFit/>
          </a:bodyPr>
          <a:lstStyle/>
          <a:p>
            <a:pPr algn="l">
              <a:defRPr sz="1200" b="1">
                <a:solidFill>
                  <a:srgbClr val="FFB800"/>
                </a:solidFill>
                <a:latin typeface="Segoe UI"/>
              </a:defRPr>
            </a:pPr>
            <a:r>
              <a:t>Q: Bagaimana menangani konten yang belum ditranslasi?</a:t>
            </a:r>
          </a:p>
        </p:txBody>
      </p:sp>
      <p:sp>
        <p:nvSpPr>
          <p:cNvPr id="15" name="TextBox 14"/>
          <p:cNvSpPr txBox="1"/>
          <p:nvPr/>
        </p:nvSpPr>
        <p:spPr>
          <a:xfrm>
            <a:off x="914400" y="5074920"/>
            <a:ext cx="10332720" cy="457200"/>
          </a:xfrm>
          <a:prstGeom prst="rect">
            <a:avLst/>
          </a:prstGeom>
          <a:noFill/>
        </p:spPr>
        <p:txBody>
          <a:bodyPr wrap="square">
            <a:spAutoFit/>
          </a:bodyPr>
          <a:lstStyle/>
          <a:p>
            <a:pPr algn="l">
              <a:defRPr sz="1100" b="0">
                <a:solidFill>
                  <a:srgbClr val="B0B0C0"/>
                </a:solidFill>
                <a:latin typeface="Segoe UI"/>
              </a:defRPr>
            </a:pPr>
            <a:r>
              <a:t>→ Ada fallback mechanism. Jika key terjemahan tidak ditemukan, fungsi t(key) mengembalikan key itu sendiri sebagai teks. Bahasa default: Bahasa Indonesia (fallback 'id').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RESPONSIVITAS</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200" b="1">
                <a:solidFill>
                  <a:srgbClr val="FFB800"/>
                </a:solidFill>
                <a:latin typeface="Segoe UI"/>
              </a:defRPr>
            </a:pPr>
            <a:r>
              <a:t>Q: Bagaimana memastikan website responsif di semua perangkat?</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100" b="0">
                <a:solidFill>
                  <a:srgbClr val="B0B0C0"/>
                </a:solidFill>
                <a:latin typeface="Segoe UI"/>
              </a:defRPr>
            </a:pPr>
            <a:r>
              <a:t>→ Menggunakan Tailwind CSS responsive utilities (sm:, md:, lg:, xl:). Setiap komponen didesain dengan breakpoint classes. Contoh: 'grid grid-cols-1 md:grid-cols-2 lg:grid-cols-3'. Flexbox dan CSS Grid untuk layout.</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200" b="1">
                <a:solidFill>
                  <a:srgbClr val="FFB800"/>
                </a:solidFill>
                <a:latin typeface="Segoe UI"/>
              </a:defRPr>
            </a:pPr>
            <a:r>
              <a:t>Q: Di breakpoint berapa saja dilakukan penyesuaian?</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100" b="0">
                <a:solidFill>
                  <a:srgbClr val="B0B0C0"/>
                </a:solidFill>
                <a:latin typeface="Segoe UI"/>
              </a:defRPr>
            </a:pPr>
            <a:r>
              <a:t>→ Mobile: &lt;640px (default). Tablet: sm: 640px, md: 768px. Desktop: lg: 1024px, xl: 1280px, 2xl: 1536px. Tailwind CSS v4 menggunakan breakpoint standar ini.</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200" b="1">
                <a:solidFill>
                  <a:srgbClr val="FFB800"/>
                </a:solidFill>
                <a:latin typeface="Segoe UI"/>
              </a:defRPr>
            </a:pPr>
            <a:r>
              <a:t>Q: Apakah sudah test di berbagai browser?</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100" b="0">
                <a:solidFill>
                  <a:srgbClr val="B0B0C0"/>
                </a:solidFill>
                <a:latin typeface="Segoe UI"/>
              </a:defRPr>
            </a:pPr>
            <a:r>
              <a:t>→ Ya, ditest di Chrome, Firefox, dan Edge. Website menggunakan CSS modern yang compatible dengan semua browser major. Tailwind CSS dan Alpine.js mendukung semua browser modern.</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200" b="1">
                <a:solidFill>
                  <a:srgbClr val="FFB800"/>
                </a:solidFill>
                <a:latin typeface="Segoe UI"/>
              </a:defRPr>
            </a:pPr>
            <a:r>
              <a:t>Q: Apakah menggunakan pendekatan Mobile First atau Desktop First?</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100" b="0">
                <a:solidFill>
                  <a:srgbClr val="B0B0C0"/>
                </a:solidFill>
                <a:latin typeface="Segoe UI"/>
              </a:defRPr>
            </a:pPr>
            <a:r>
              <a:t>→ Mobile First! Tailwind CSS secara default menggunakan pendekatan Mobile First. Style dasar untuk mobile, lalu ditambahkan dengan md:, lg: untuk layar lebih besar. Contoh: 'text-sm md:text-base lg:text-lg'.</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200" b="1">
                <a:solidFill>
                  <a:srgbClr val="FFB800"/>
                </a:solidFill>
                <a:latin typeface="Segoe UI"/>
              </a:defRPr>
            </a:pPr>
            <a:r>
              <a:t>Q: Bagaimana penanganan gambar responsif?</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100" b="0">
                <a:solidFill>
                  <a:srgbClr val="B0B0C0"/>
                </a:solidFill>
                <a:latin typeface="Segoe UI"/>
              </a:defRPr>
            </a:pPr>
            <a:r>
              <a:t>→ Menggunakan class 'w-full h-auto object-cover' untuk responsif. Alpine.js @intersect plugin digunakan untuk lazy loading (package @alpinejs/intersect). Gambar rescale otomatis sesuai container.</a:t>
            </a:r>
          </a:p>
        </p:txBody>
      </p:sp>
      <p:sp>
        <p:nvSpPr>
          <p:cNvPr id="14" name="TextBox 13"/>
          <p:cNvSpPr txBox="1"/>
          <p:nvPr/>
        </p:nvSpPr>
        <p:spPr>
          <a:xfrm>
            <a:off x="731520" y="4754880"/>
            <a:ext cx="10515600" cy="365760"/>
          </a:xfrm>
          <a:prstGeom prst="rect">
            <a:avLst/>
          </a:prstGeom>
          <a:noFill/>
        </p:spPr>
        <p:txBody>
          <a:bodyPr wrap="square">
            <a:spAutoFit/>
          </a:bodyPr>
          <a:lstStyle/>
          <a:p>
            <a:pPr algn="l">
              <a:defRPr sz="1200" b="1">
                <a:solidFill>
                  <a:srgbClr val="FFB800"/>
                </a:solidFill>
                <a:latin typeface="Segoe UI"/>
              </a:defRPr>
            </a:pPr>
            <a:r>
              <a:t>Q: Apakah website sudah ditest menggunakan Google Lighthouse?</a:t>
            </a:r>
          </a:p>
        </p:txBody>
      </p:sp>
      <p:sp>
        <p:nvSpPr>
          <p:cNvPr id="15" name="TextBox 14"/>
          <p:cNvSpPr txBox="1"/>
          <p:nvPr/>
        </p:nvSpPr>
        <p:spPr>
          <a:xfrm>
            <a:off x="914400" y="5074920"/>
            <a:ext cx="10332720" cy="457200"/>
          </a:xfrm>
          <a:prstGeom prst="rect">
            <a:avLst/>
          </a:prstGeom>
          <a:noFill/>
        </p:spPr>
        <p:txBody>
          <a:bodyPr wrap="square">
            <a:spAutoFit/>
          </a:bodyPr>
          <a:lstStyle/>
          <a:p>
            <a:pPr algn="l">
              <a:defRPr sz="1100" b="0">
                <a:solidFill>
                  <a:srgbClr val="B0B0C0"/>
                </a:solidFill>
                <a:latin typeface="Segoe UI"/>
              </a:defRPr>
            </a:pPr>
            <a:r>
              <a:t>→ Website dapat ditest dengan Lighthouse. Faktor yang sudah dioptimalkan: Semantic HTML, Meta tags, Fast loading via Vite bundling, Image optimization. Skor target: Performance &gt;80, Accessibility &gt;90, Best Practices &gt;90.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KEAMANAN — Autentikasi &amp; Otorisasi</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200" b="1">
                <a:solidFill>
                  <a:srgbClr val="FFB800"/>
                </a:solidFill>
                <a:latin typeface="Segoe UI"/>
              </a:defRPr>
            </a:pPr>
            <a:r>
              <a:t>Q: Bagaimana sistem login admin? Ada proteksi brute force?</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100" b="0">
                <a:solidFill>
                  <a:srgbClr val="B0B0C0"/>
                </a:solidFill>
                <a:latin typeface="Segoe UI"/>
              </a:defRPr>
            </a:pPr>
            <a:r>
              <a:t>→ Admin login terpisah (/admin/login) dengan custom guard 'admin'. Proteksi brute force via Rate Limiting: middleware('throttle:5,1') — maksimal 5 percobaan per menit. Setelah limit tercapai, HTTP 429 Too Many Requests.</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200" b="1">
                <a:solidFill>
                  <a:srgbClr val="FFB800"/>
                </a:solidFill>
                <a:latin typeface="Segoe UI"/>
              </a:defRPr>
            </a:pPr>
            <a:r>
              <a:t>Q: Apakah menerapkan rate limiting pada form login?</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100" b="0">
                <a:solidFill>
                  <a:srgbClr val="B0B0C0"/>
                </a:solidFill>
                <a:latin typeface="Segoe UI"/>
              </a:defRPr>
            </a:pPr>
            <a:r>
              <a:t>→ Ya! Route::middleware(['throttle:5,1']) untuk login admin &amp; user. Route PPDB register: middleware('throttle:3,1'). Route PPDB status check: middleware('throttle:10,1'). Konfigurasi otomatis Laravel.</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200" b="1">
                <a:solidFill>
                  <a:srgbClr val="FFB800"/>
                </a:solidFill>
                <a:latin typeface="Segoe UI"/>
              </a:defRPr>
            </a:pPr>
            <a:r>
              <a:t>Q: Apakah password disimpan menggunakan bcrypt/hashing?</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100" b="0">
                <a:solidFill>
                  <a:srgbClr val="B0B0C0"/>
                </a:solidFill>
                <a:latin typeface="Segoe UI"/>
              </a:defRPr>
            </a:pPr>
            <a:r>
              <a:t>→ Ya! Di model Admin: protected $casts = ['password' =&gt; 'hashed']. Laravel otomatis menggunakan bcrypt dengan 12 rounds (BCRYPT_ROUNDS=12 di .env). Fungsi: Hash::make() saat create, Hash::check() saat login.</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200" b="1">
                <a:solidFill>
                  <a:srgbClr val="FFB800"/>
                </a:solidFill>
                <a:latin typeface="Segoe UI"/>
              </a:defRPr>
            </a:pPr>
            <a:r>
              <a:t>Q: Apakah ada fitur lupa password / reset password?</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100" b="0">
                <a:solidFill>
                  <a:srgbClr val="B0B0C0"/>
                </a:solidFill>
                <a:latin typeface="Segoe UI"/>
              </a:defRPr>
            </a:pPr>
            <a:r>
              <a:t>→ Login menggunakan Laravel Breeze yang sudah include fitur reset password. Admin reset password melalui database atau command artisan.</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200" b="1">
                <a:solidFill>
                  <a:srgbClr val="FFB800"/>
                </a:solidFill>
                <a:latin typeface="Segoe UI"/>
              </a:defRPr>
            </a:pPr>
            <a:r>
              <a:t>Q: Apakah ada session timeout untuk admin tidak aktif?</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100" b="0">
                <a:solidFill>
                  <a:srgbClr val="B0B0C0"/>
                </a:solidFill>
                <a:latin typeface="Segoe UI"/>
              </a:defRPr>
            </a:pPr>
            <a:r>
              <a:t>→ Ya! SESSION_LIFETIME=120 (menit) di .env. Session otomatis expire setelah 2 jam tidak aktif. Admin harus login ulang setelah timeout.</a:t>
            </a:r>
          </a:p>
        </p:txBody>
      </p:sp>
      <p:sp>
        <p:nvSpPr>
          <p:cNvPr id="14" name="TextBox 13"/>
          <p:cNvSpPr txBox="1"/>
          <p:nvPr/>
        </p:nvSpPr>
        <p:spPr>
          <a:xfrm>
            <a:off x="731520" y="4754880"/>
            <a:ext cx="10515600" cy="365760"/>
          </a:xfrm>
          <a:prstGeom prst="rect">
            <a:avLst/>
          </a:prstGeom>
          <a:noFill/>
        </p:spPr>
        <p:txBody>
          <a:bodyPr wrap="square">
            <a:spAutoFit/>
          </a:bodyPr>
          <a:lstStyle/>
          <a:p>
            <a:pPr algn="l">
              <a:defRPr sz="1200" b="1">
                <a:solidFill>
                  <a:srgbClr val="FFB800"/>
                </a:solidFill>
                <a:latin typeface="Segoe UI"/>
              </a:defRPr>
            </a:pPr>
            <a:r>
              <a:t>Q: Bagaimana menerapkan middleware auth di Laravel?</a:t>
            </a:r>
          </a:p>
        </p:txBody>
      </p:sp>
      <p:sp>
        <p:nvSpPr>
          <p:cNvPr id="15" name="TextBox 14"/>
          <p:cNvSpPr txBox="1"/>
          <p:nvPr/>
        </p:nvSpPr>
        <p:spPr>
          <a:xfrm>
            <a:off x="914400" y="5074920"/>
            <a:ext cx="10332720" cy="457200"/>
          </a:xfrm>
          <a:prstGeom prst="rect">
            <a:avLst/>
          </a:prstGeom>
          <a:noFill/>
        </p:spPr>
        <p:txBody>
          <a:bodyPr wrap="square">
            <a:spAutoFit/>
          </a:bodyPr>
          <a:lstStyle/>
          <a:p>
            <a:pPr algn="l">
              <a:defRPr sz="1100" b="0">
                <a:solidFill>
                  <a:srgbClr val="B0B0C0"/>
                </a:solidFill>
                <a:latin typeface="Segoe UI"/>
              </a:defRPr>
            </a:pPr>
            <a:r>
              <a:t>→ 3 Custom Middleware: 1) AdminAuth — cek guard('admin') + cek is_active. 2) TwoFactorAuth — cek google2fa_enabled &amp;&amp; session('2fa_verified'). 3) CheckPermission — cek permission via HasRoles trait. Didaftarkan di bootstrap/app.php.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KEAMANAN — Proteksi Serangan Umum</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200" b="1">
                <a:solidFill>
                  <a:srgbClr val="FFB800"/>
                </a:solidFill>
                <a:latin typeface="Segoe UI"/>
              </a:defRPr>
            </a:pPr>
            <a:r>
              <a:t>Q: Bagaimana mencegah SQL Injection?</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100" b="0">
                <a:solidFill>
                  <a:srgbClr val="B0B0C0"/>
                </a:solidFill>
                <a:latin typeface="Segoe UI"/>
              </a:defRPr>
            </a:pPr>
            <a:r>
              <a:t>→ Eloquent ORM menggunakan prepared statements otomatis. Contoh: Student::where('email', $email)-&gt;first(). TIDAK pernah menggunakan raw query tanpa binding. Semua input di-sanitize melalui Laravel Request validation.</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200" b="1">
                <a:solidFill>
                  <a:srgbClr val="FFB800"/>
                </a:solidFill>
                <a:latin typeface="Segoe UI"/>
              </a:defRPr>
            </a:pPr>
            <a:r>
              <a:t>Q: Bagaimana mencegah XSS (Cross-Site Scripting)?</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100" b="0">
                <a:solidFill>
                  <a:srgbClr val="B0B0C0"/>
                </a:solidFill>
                <a:latin typeface="Segoe UI"/>
              </a:defRPr>
            </a:pPr>
            <a:r>
              <a:t>→ Blade template otomatis escape semua output dengan {{ }}. Hanya menggunakan {!! !!} untuk konten trusted (konten berita dari admin). Input validation mencegah tag berbahaya masuk ke database.</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200" b="1">
                <a:solidFill>
                  <a:srgbClr val="FFB800"/>
                </a:solidFill>
                <a:latin typeface="Segoe UI"/>
              </a:defRPr>
            </a:pPr>
            <a:r>
              <a:t>Q: Apakah menggunakan CSRF Token di semua form?</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100" b="0">
                <a:solidFill>
                  <a:srgbClr val="B0B0C0"/>
                </a:solidFill>
                <a:latin typeface="Segoe UI"/>
              </a:defRPr>
            </a:pPr>
            <a:r>
              <a:t>→ Ya! Setiap form menggunakan @csrf directive yang generate hidden input dengan token. Laravel otomatis verifikasi token di setiap POST/PUT/DELETE request. Token unique per session, expire otomatis.</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200" b="1">
                <a:solidFill>
                  <a:srgbClr val="FFB800"/>
                </a:solidFill>
                <a:latin typeface="Segoe UI"/>
              </a:defRPr>
            </a:pPr>
            <a:r>
              <a:t>Q: Apakah menerapkan CORS policy?</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100" b="0">
                <a:solidFill>
                  <a:srgbClr val="B0B0C0"/>
                </a:solidFill>
                <a:latin typeface="Segoe UI"/>
              </a:defRPr>
            </a:pPr>
            <a:r>
              <a:t>→ Untuk website ini yang full server-side rendering, CORS tidak diperlukan karena tidak ada cross-origin API request. Jika diperlukan, Laravel menyediakan config/cors.php untuk konfigurasi.</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200" b="1">
                <a:solidFill>
                  <a:srgbClr val="FFB800"/>
                </a:solidFill>
                <a:latin typeface="Segoe UI"/>
              </a:defRPr>
            </a:pPr>
            <a:r>
              <a:t>Q: Bagaimana memvalidasi file upload?</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100" b="0">
                <a:solidFill>
                  <a:srgbClr val="B0B0C0"/>
                </a:solidFill>
                <a:latin typeface="Segoe UI"/>
              </a:defRPr>
            </a:pPr>
            <a:r>
              <a:t>→ 3 layer validasi: 1) Laravel validation rules: 'image|mimes:jpeg,png,jpg|max:2048'. 2) FileUploadScanner service — scan file untuk malware signatures dan content verification. 3) Mime type checking. File yang tidak aman ditolak dengan pesan error.</a:t>
            </a:r>
          </a:p>
        </p:txBody>
      </p:sp>
      <p:sp>
        <p:nvSpPr>
          <p:cNvPr id="14" name="TextBox 13"/>
          <p:cNvSpPr txBox="1"/>
          <p:nvPr/>
        </p:nvSpPr>
        <p:spPr>
          <a:xfrm>
            <a:off x="731520" y="4754880"/>
            <a:ext cx="10515600" cy="365760"/>
          </a:xfrm>
          <a:prstGeom prst="rect">
            <a:avLst/>
          </a:prstGeom>
          <a:noFill/>
        </p:spPr>
        <p:txBody>
          <a:bodyPr wrap="square">
            <a:spAutoFit/>
          </a:bodyPr>
          <a:lstStyle/>
          <a:p>
            <a:pPr algn="l">
              <a:defRPr sz="1200" b="1">
                <a:solidFill>
                  <a:srgbClr val="FFB800"/>
                </a:solidFill>
                <a:latin typeface="Segoe UI"/>
              </a:defRPr>
            </a:pPr>
            <a:r>
              <a:t>Q: Apakah ada proteksi terhadap Directory Traversal?</a:t>
            </a:r>
          </a:p>
        </p:txBody>
      </p:sp>
      <p:sp>
        <p:nvSpPr>
          <p:cNvPr id="15" name="TextBox 14"/>
          <p:cNvSpPr txBox="1"/>
          <p:nvPr/>
        </p:nvSpPr>
        <p:spPr>
          <a:xfrm>
            <a:off x="914400" y="5074920"/>
            <a:ext cx="10332720" cy="457200"/>
          </a:xfrm>
          <a:prstGeom prst="rect">
            <a:avLst/>
          </a:prstGeom>
          <a:noFill/>
        </p:spPr>
        <p:txBody>
          <a:bodyPr wrap="square">
            <a:spAutoFit/>
          </a:bodyPr>
          <a:lstStyle/>
          <a:p>
            <a:pPr algn="l">
              <a:defRPr sz="1100" b="0">
                <a:solidFill>
                  <a:srgbClr val="B0B0C0"/>
                </a:solidFill>
                <a:latin typeface="Segoe UI"/>
              </a:defRPr>
            </a:pPr>
            <a:r>
              <a:t>→ Ya. Laravel Storage facade mencegah akses di luar direktori yang ditentukan. Route /storage/{path} menggunakan file_exists() check dan hanya melayani file dari storage/app/public. Path injection dicegah otomatis oleh framework.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KEAMANAN — Data &amp; Konfigurasi</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300" b="1">
                <a:solidFill>
                  <a:srgbClr val="FFB800"/>
                </a:solidFill>
                <a:latin typeface="Segoe UI"/>
              </a:defRPr>
            </a:pPr>
            <a:r>
              <a:t>Q: Apakah file .env sudah diamankan?</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200" b="0">
                <a:solidFill>
                  <a:srgbClr val="B0B0C0"/>
                </a:solidFill>
                <a:latin typeface="Segoe UI"/>
              </a:defRPr>
            </a:pPr>
            <a:r>
              <a:t>→ Ya! .env masuk dalam .gitignore (tidak ter-push ke Git). File .env tidak bisa diakses publik karena berada di luar folder public/. Web server (Apache/Nginx) dikonfigurasi hanya serve folder public/.</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300" b="1">
                <a:solidFill>
                  <a:srgbClr val="FFB800"/>
                </a:solidFill>
                <a:latin typeface="Segoe UI"/>
              </a:defRPr>
            </a:pPr>
            <a:r>
              <a:t>Q: Apakah APP_DEBUG sudah di-set ke false di production?</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200" b="0">
                <a:solidFill>
                  <a:srgbClr val="B0B0C0"/>
                </a:solidFill>
                <a:latin typeface="Segoe UI"/>
              </a:defRPr>
            </a:pPr>
            <a:r>
              <a:t>→ Di config/app.php: 'debug' =&gt; (bool) env('APP_DEBUG', false). Default false. Di environment production, APP_DEBUG=false. Stack trace dan detail error tidak ditampilkan ke user. Custom error pages: 404.blade.php.</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300" b="1">
                <a:solidFill>
                  <a:srgbClr val="FFB800"/>
                </a:solidFill>
                <a:latin typeface="Segoe UI"/>
              </a:defRPr>
            </a:pPr>
            <a:r>
              <a:t>Q: Apakah menggunakan HTTPS?</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200" b="0">
                <a:solidFill>
                  <a:srgbClr val="B0B0C0"/>
                </a:solidFill>
                <a:latin typeface="Segoe UI"/>
              </a:defRPr>
            </a:pPr>
            <a:r>
              <a:t>→ Production di Vercel otomatis menggunakan HTTPS dengan SSL certificate dari Let's Encrypt (gratis). Untuk local development menggunakan HTTP via Laragon (localhost:8000).</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300" b="1">
                <a:solidFill>
                  <a:srgbClr val="FFB800"/>
                </a:solidFill>
                <a:latin typeface="Segoe UI"/>
              </a:defRPr>
            </a:pPr>
            <a:r>
              <a:t>Q: Apakah ada Content Security Policy (CSP) header?</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200" b="0">
                <a:solidFill>
                  <a:srgbClr val="B0B0C0"/>
                </a:solidFill>
                <a:latin typeface="Segoe UI"/>
              </a:defRPr>
            </a:pPr>
            <a:r>
              <a:t>→ Belum diimplementasikan secara eksplisit. Bisa ditambahkan via middleware atau web server config. Laravel mendukung penambahan CSP headers via middleware custom.</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300" b="1">
                <a:solidFill>
                  <a:srgbClr val="FFB800"/>
                </a:solidFill>
                <a:latin typeface="Segoe UI"/>
              </a:defRPr>
            </a:pPr>
            <a:r>
              <a:t>Q: Bagaimana menyimpan API key / credential pihak ketiga?</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200" b="0">
                <a:solidFill>
                  <a:srgbClr val="B0B0C0"/>
                </a:solidFill>
                <a:latin typeface="Segoe UI"/>
              </a:defRPr>
            </a:pPr>
            <a:r>
              <a:t>→ Semua credential disimpan di file .env yang tidak ter-commit ke Git. Contoh: MAIL_USERNAME, MAIL_PASSWORD, DB_PASSWORD. Diakses via env() helper. Untuk production di Vercel, menggunakan Environment Variables di dashboard.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HOSTING &amp; DEPLOYMENT</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200" b="1">
                <a:solidFill>
                  <a:srgbClr val="FFB800"/>
                </a:solidFill>
                <a:latin typeface="Segoe UI"/>
              </a:defRPr>
            </a:pPr>
            <a:r>
              <a:t>Q: Website di-hosting di mana?</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100" b="0">
                <a:solidFill>
                  <a:srgbClr val="B0B0C0"/>
                </a:solidFill>
                <a:latin typeface="Segoe UI"/>
              </a:defRPr>
            </a:pPr>
            <a:r>
              <a:t>→ Production di-deploy ke Vercel (Serverless). Vercel menyediakan CDN global, HTTPS otomatis, dan auto-deployment dari Git. Config: vercel.json dengan vercel-php@0.7.2 runtime.</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200" b="1">
                <a:solidFill>
                  <a:srgbClr val="FFB800"/>
                </a:solidFill>
                <a:latin typeface="Segoe UI"/>
              </a:defRPr>
            </a:pPr>
            <a:r>
              <a:t>Q: Bagaimana proses deployment-nya?</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100" b="0">
                <a:solidFill>
                  <a:srgbClr val="B0B0C0"/>
                </a:solidFill>
                <a:latin typeface="Segoe UI"/>
              </a:defRPr>
            </a:pPr>
            <a:r>
              <a:t>→ CI/CD otomatis via Vercel + Git integration. Push ke GitHub → Vercel otomatis build &amp; deploy. Tidak perlu manual upload FTP. Build: npm run build (Vite), lalu serve via serverless function.</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200" b="1">
                <a:solidFill>
                  <a:srgbClr val="FFB800"/>
                </a:solidFill>
                <a:latin typeface="Segoe UI"/>
              </a:defRPr>
            </a:pPr>
            <a:r>
              <a:t>Q: Apakah menggunakan Git untuk version control?</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100" b="0">
                <a:solidFill>
                  <a:srgbClr val="B0B0C0"/>
                </a:solidFill>
                <a:latin typeface="Segoe UI"/>
              </a:defRPr>
            </a:pPr>
            <a:r>
              <a:t>→ Ya! Menggunakan Git + GitHub. Setiap perubahan di-commit dan di-push. Branch strategy: main branch untuk production. History lengkap tracking semua perubahan kode.</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200" b="1">
                <a:solidFill>
                  <a:srgbClr val="FFB800"/>
                </a:solidFill>
                <a:latin typeface="Segoe UI"/>
              </a:defRPr>
            </a:pPr>
            <a:r>
              <a:t>Q: Bagaimana strategi backup database?</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100" b="0">
                <a:solidFill>
                  <a:srgbClr val="B0B0C0"/>
                </a:solidFill>
                <a:latin typeface="Segoe UI"/>
              </a:defRPr>
            </a:pPr>
            <a:r>
              <a:t>→ Database MySQL di-host terpisah (cloud database). Backup bisa dilakukan via: php artisan db:backup (custom command), atau mysqldump manual. Rekomendasi: backup harian otomatis.</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200" b="1">
                <a:solidFill>
                  <a:srgbClr val="FFB800"/>
                </a:solidFill>
                <a:latin typeface="Segoe UI"/>
              </a:defRPr>
            </a:pPr>
            <a:r>
              <a:t>Q: Apakah ada konfigurasi web server?</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100" b="0">
                <a:solidFill>
                  <a:srgbClr val="B0B0C0"/>
                </a:solidFill>
                <a:latin typeface="Segoe UI"/>
              </a:defRPr>
            </a:pPr>
            <a:r>
              <a:t>→ Vercel menggunakan serverless (tidak perlu Apache/Nginx config). Untuk local development: Laragon (Apache). Routing dihandle oleh public/index.php sebagai entry point. vercel.json mengatur routing rules.</a:t>
            </a:r>
          </a:p>
        </p:txBody>
      </p:sp>
      <p:sp>
        <p:nvSpPr>
          <p:cNvPr id="14" name="TextBox 13"/>
          <p:cNvSpPr txBox="1"/>
          <p:nvPr/>
        </p:nvSpPr>
        <p:spPr>
          <a:xfrm>
            <a:off x="731520" y="4754880"/>
            <a:ext cx="10515600" cy="365760"/>
          </a:xfrm>
          <a:prstGeom prst="rect">
            <a:avLst/>
          </a:prstGeom>
          <a:noFill/>
        </p:spPr>
        <p:txBody>
          <a:bodyPr wrap="square">
            <a:spAutoFit/>
          </a:bodyPr>
          <a:lstStyle/>
          <a:p>
            <a:pPr algn="l">
              <a:defRPr sz="1200" b="1">
                <a:solidFill>
                  <a:srgbClr val="FFB800"/>
                </a:solidFill>
                <a:latin typeface="Segoe UI"/>
              </a:defRPr>
            </a:pPr>
            <a:r>
              <a:t>Q: Bagaimana menangani error 404, 500 di production?</a:t>
            </a:r>
          </a:p>
        </p:txBody>
      </p:sp>
      <p:sp>
        <p:nvSpPr>
          <p:cNvPr id="15" name="TextBox 14"/>
          <p:cNvSpPr txBox="1"/>
          <p:nvPr/>
        </p:nvSpPr>
        <p:spPr>
          <a:xfrm>
            <a:off x="914400" y="5074920"/>
            <a:ext cx="10332720" cy="457200"/>
          </a:xfrm>
          <a:prstGeom prst="rect">
            <a:avLst/>
          </a:prstGeom>
          <a:noFill/>
        </p:spPr>
        <p:txBody>
          <a:bodyPr wrap="square">
            <a:spAutoFit/>
          </a:bodyPr>
          <a:lstStyle/>
          <a:p>
            <a:pPr algn="l">
              <a:defRPr sz="1100" b="0">
                <a:solidFill>
                  <a:srgbClr val="B0B0C0"/>
                </a:solidFill>
                <a:latin typeface="Segoe UI"/>
              </a:defRPr>
            </a:pPr>
            <a:r>
              <a:t>→ Custom 404 page: resources/views/errors/404.blade.php. Route::fallback() menangkap semua URL yang tidak ditemukan. APP_DEBUG=false memastikan error 500 menampilkan halaman generik, bukan stack trace.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PERFORMA</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200" b="1">
                <a:solidFill>
                  <a:srgbClr val="FFB800"/>
                </a:solidFill>
                <a:latin typeface="Segoe UI"/>
              </a:defRPr>
            </a:pPr>
            <a:r>
              <a:t>Q: Apakah menggunakan caching?</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100" b="0">
                <a:solidFill>
                  <a:srgbClr val="B0B0C0"/>
                </a:solidFill>
                <a:latin typeface="Segoe UI"/>
              </a:defRPr>
            </a:pPr>
            <a:r>
              <a:t>→ Ya! CACHE_STORE=database di .env. Laravel Cache digunakan untuk config caching (php artisan config:cache), route caching (php artisan route:cache), dan view caching (VIEW_COMPILED_PATH). Di Vercel: CACHE_DRIVER=array.</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200" b="1">
                <a:solidFill>
                  <a:srgbClr val="FFB800"/>
                </a:solidFill>
                <a:latin typeface="Segoe UI"/>
              </a:defRPr>
            </a:pPr>
            <a:r>
              <a:t>Q: Apakah ada optimasi gambar?</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100" b="0">
                <a:solidFill>
                  <a:srgbClr val="B0B0C0"/>
                </a:solidFill>
                <a:latin typeface="Segoe UI"/>
              </a:defRPr>
            </a:pPr>
            <a:r>
              <a:t>→ Gambar divalidasi ukuran saat upload (max 2MB foto, 5MB dokumen). Gambar disimpan sebagai base64 di DB dan di-serve via dedicated ImageController endpoint (/img/{table}/{id}/{column}). Ini menghindari masalah storage di serverless.</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200" b="1">
                <a:solidFill>
                  <a:srgbClr val="FFB800"/>
                </a:solidFill>
                <a:latin typeface="Segoe UI"/>
              </a:defRPr>
            </a:pPr>
            <a:r>
              <a:t>Q: Apakah menggunakan CDN untuk asset statis?</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100" b="0">
                <a:solidFill>
                  <a:srgbClr val="B0B0C0"/>
                </a:solidFill>
                <a:latin typeface="Segoe UI"/>
              </a:defRPr>
            </a:pPr>
            <a:r>
              <a:t>→ Ya! Vercel menyediakan CDN global (Edge Network) otomatis. Semua asset statis (CSS, JS, gambar) di-serve via CDN terdekat ke user. Vite bundling menghasilkan file dengan hash untuk cache busting.</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200" b="1">
                <a:solidFill>
                  <a:srgbClr val="FFB800"/>
                </a:solidFill>
                <a:latin typeface="Segoe UI"/>
              </a:defRPr>
            </a:pPr>
            <a:r>
              <a:t>Q: Apakah melakukan minifikasi CSS dan JS?</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100" b="0">
                <a:solidFill>
                  <a:srgbClr val="B0B0C0"/>
                </a:solidFill>
                <a:latin typeface="Segoe UI"/>
              </a:defRPr>
            </a:pPr>
            <a:r>
              <a:t>→ Ya! Vite otomatis melakukan minifikasi saat npm run build (production). CSS di-tree-shake oleh Tailwind (hanya CSS yang dipakai yang di-bundle). JS di-minify dan di-split. Output: build/assets/ dengan hash filename.</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200" b="1">
                <a:solidFill>
                  <a:srgbClr val="FFB800"/>
                </a:solidFill>
                <a:latin typeface="Segoe UI"/>
              </a:defRPr>
            </a:pPr>
            <a:r>
              <a:t>Q: Apakah menggunakan pagination atau lazy loading?</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100" b="0">
                <a:solidFill>
                  <a:srgbClr val="B0B0C0"/>
                </a:solidFill>
                <a:latin typeface="Segoe UI"/>
              </a:defRPr>
            </a:pPr>
            <a:r>
              <a:t>→ Ya keduanya! Pagination: Student::latest()-&gt;paginate(15) di admin. Lazy Loading gambar: @alpinejs/intersect plugin untuk load gambar saat masuk viewport. News: fitur Load More (loadMoreNews endpoint).</a:t>
            </a:r>
          </a:p>
        </p:txBody>
      </p:sp>
      <p:sp>
        <p:nvSpPr>
          <p:cNvPr id="14" name="TextBox 13"/>
          <p:cNvSpPr txBox="1"/>
          <p:nvPr/>
        </p:nvSpPr>
        <p:spPr>
          <a:xfrm>
            <a:off x="731520" y="4754880"/>
            <a:ext cx="10515600" cy="365760"/>
          </a:xfrm>
          <a:prstGeom prst="rect">
            <a:avLst/>
          </a:prstGeom>
          <a:noFill/>
        </p:spPr>
        <p:txBody>
          <a:bodyPr wrap="square">
            <a:spAutoFit/>
          </a:bodyPr>
          <a:lstStyle/>
          <a:p>
            <a:pPr algn="l">
              <a:defRPr sz="1200" b="1">
                <a:solidFill>
                  <a:srgbClr val="FFB800"/>
                </a:solidFill>
                <a:latin typeface="Segoe UI"/>
              </a:defRPr>
            </a:pPr>
            <a:r>
              <a:t>Q: Apakah pernah melakukan load testing?</a:t>
            </a:r>
          </a:p>
        </p:txBody>
      </p:sp>
      <p:sp>
        <p:nvSpPr>
          <p:cNvPr id="15" name="TextBox 14"/>
          <p:cNvSpPr txBox="1"/>
          <p:nvPr/>
        </p:nvSpPr>
        <p:spPr>
          <a:xfrm>
            <a:off x="914400" y="5074920"/>
            <a:ext cx="10332720" cy="457200"/>
          </a:xfrm>
          <a:prstGeom prst="rect">
            <a:avLst/>
          </a:prstGeom>
          <a:noFill/>
        </p:spPr>
        <p:txBody>
          <a:bodyPr wrap="square">
            <a:spAutoFit/>
          </a:bodyPr>
          <a:lstStyle/>
          <a:p>
            <a:pPr algn="l">
              <a:defRPr sz="1100" b="0">
                <a:solidFill>
                  <a:srgbClr val="B0B0C0"/>
                </a:solidFill>
                <a:latin typeface="Segoe UI"/>
              </a:defRPr>
            </a:pPr>
            <a:r>
              <a:t>→ Website di-deploy di Vercel serverless yang auto-scale. Serverless function otomatis scale sesuai traffic. Tidak ada limit hard pada concurrent users di level server. Rate limiting diterapkan untuk mencegah abuse.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MANUAL BOOK</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300" b="1">
                <a:solidFill>
                  <a:srgbClr val="FFB800"/>
                </a:solidFill>
                <a:latin typeface="Segoe UI"/>
              </a:defRPr>
            </a:pPr>
            <a:r>
              <a:t>Q: Tunjukkan manual book yang sudah dibuat.</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200" b="0">
                <a:solidFill>
                  <a:srgbClr val="B0B0C0"/>
                </a:solidFill>
                <a:latin typeface="Segoe UI"/>
              </a:defRPr>
            </a:pPr>
            <a:r>
              <a:t>→ Manual book tersedia dalam file DOKUMENTASI.md (585 baris) di root project. Mencakup dokumentasi lengkap teknis dan panduan penggunaan.</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300" b="1">
                <a:solidFill>
                  <a:srgbClr val="FFB800"/>
                </a:solidFill>
                <a:latin typeface="Segoe UI"/>
              </a:defRPr>
            </a:pPr>
            <a:r>
              <a:t>Q: Apa saja yang tercakup dalam manual book?</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200" b="0">
                <a:solidFill>
                  <a:srgbClr val="B0B0C0"/>
                </a:solidFill>
                <a:latin typeface="Segoe UI"/>
              </a:defRPr>
            </a:pPr>
            <a:r>
              <a:t>→ 1) Ringkasan Project &amp; Tech Stack. 2) Cara Instalasi (clone, composer install, npm install, migrate, seed). 3) Panduan Admin Panel (CRUD News, Students, Eskul, dll). 4) Arsitektur MVC. 5) Sistem Keamanan. 6) Alur PPDB. 7) Sistem Terjemahan. 8) Struktur Folder. 9) Contoh kode CRUD lengkap.</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300" b="1">
                <a:solidFill>
                  <a:srgbClr val="FFB800"/>
                </a:solidFill>
                <a:latin typeface="Segoe UI"/>
              </a:defRPr>
            </a:pPr>
            <a:r>
              <a:t>Q: Apakah manual book tersedia dalam format digital?</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200" b="0">
                <a:solidFill>
                  <a:srgbClr val="B0B0C0"/>
                </a:solidFill>
                <a:latin typeface="Segoe UI"/>
              </a:defRPr>
            </a:pPr>
            <a:r>
              <a:t>→ Ya, dalam format Markdown (.md) yang bisa di-convert ke PDF. File: DOKUMENTASI.md dan PRESENTASI.md. Markdown mendukung formatting, code blocks, tables, dan flowcharts (Mermaid).</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300" b="1">
                <a:solidFill>
                  <a:srgbClr val="FFB800"/>
                </a:solidFill>
                <a:latin typeface="Segoe UI"/>
              </a:defRPr>
            </a:pPr>
            <a:r>
              <a:t>Q: Apakah manual book mencakup troubleshooting?</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200" b="0">
                <a:solidFill>
                  <a:srgbClr val="B0B0C0"/>
                </a:solidFill>
                <a:latin typeface="Segoe UI"/>
              </a:defRPr>
            </a:pPr>
            <a:r>
              <a:t>→ Ya, section 'Cara Menjalankan Project' mencakup langkah-langkah setup. Untuk troubleshooting: php artisan config:clear, php artisan cache:clear, php artisan migrate:fresh --seed untuk reset database.</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300" b="1">
                <a:solidFill>
                  <a:srgbClr val="FFB800"/>
                </a:solidFill>
                <a:latin typeface="Segoe UI"/>
              </a:defRPr>
            </a:pPr>
            <a:r>
              <a:t>Q: Apakah ada screenshot/dokumentasi visual?</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200" b="0">
                <a:solidFill>
                  <a:srgbClr val="B0B0C0"/>
                </a:solidFill>
                <a:latin typeface="Segoe UI"/>
              </a:defRPr>
            </a:pPr>
            <a:r>
              <a:t>→ Dokumentasi menggunakan Mermaid diagrams untuk flowchart (Alur Request-Response, Admin Panel Flow, PPDB Flow). Code snippets dengan syntax highlighting. Tabel-tabel referensi untuk menu admin dan fitur keamanan.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DESAIN &amp; ORISINALITAS</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300" b="1">
                <a:solidFill>
                  <a:srgbClr val="FFB800"/>
                </a:solidFill>
                <a:latin typeface="Segoe UI"/>
              </a:defRPr>
            </a:pPr>
            <a:r>
              <a:t>Q: Apakah desain ini 100% orisinal?</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200" b="0">
                <a:solidFill>
                  <a:srgbClr val="B0B0C0"/>
                </a:solidFill>
                <a:latin typeface="Segoe UI"/>
              </a:defRPr>
            </a:pPr>
            <a:r>
              <a:t>→ Ya, desain 100% orisinal. Tidak menggunakan template jadi. Semua layout, komponen, dan animasi dibuat dari scratch menggunakan Tailwind CSS utility classes. Color scheme khusus: metland-blue (#1e40af), metland-yellow (#f59e0b), metland-green (#10b981).</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300" b="1">
                <a:solidFill>
                  <a:srgbClr val="FFB800"/>
                </a:solidFill>
                <a:latin typeface="Segoe UI"/>
              </a:defRPr>
            </a:pPr>
            <a:r>
              <a:t>Q: Apakah ada aset dari pihak ketiga? Sudah mendapat lisensi?</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200" b="0">
                <a:solidFill>
                  <a:srgbClr val="B0B0C0"/>
                </a:solidFill>
                <a:latin typeface="Segoe UI"/>
              </a:defRPr>
            </a:pPr>
            <a:r>
              <a:t>→ Ikon: Menggunakan emoji dan inline SVG (free). Font: Poppins dari Google Fonts (Open Font License, free). Gambar: Konten sekolah asli. Framework: Semua open source (MIT License) — Laravel, Tailwind, Alpine.js.</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300" b="1">
                <a:solidFill>
                  <a:srgbClr val="FFB800"/>
                </a:solidFill>
                <a:latin typeface="Segoe UI"/>
              </a:defRPr>
            </a:pPr>
            <a:r>
              <a:t>Q: Tools desain apa yang digunakan?</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200" b="0">
                <a:solidFill>
                  <a:srgbClr val="B0B0C0"/>
                </a:solidFill>
                <a:latin typeface="Segoe UI"/>
              </a:defRPr>
            </a:pPr>
            <a:r>
              <a:t>→ Development: VS Code / Cursor sebagai code editor. Tailwind CSS untuk styling langsung di kode. Browser DevTools untuk responsive testing. Git untuk version control.</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300" b="1">
                <a:solidFill>
                  <a:srgbClr val="FFB800"/>
                </a:solidFill>
                <a:latin typeface="Segoe UI"/>
              </a:defRPr>
            </a:pPr>
            <a:r>
              <a:t>Q: Apakah punya design mockup/wireframe sebelum development?</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200" b="0">
                <a:solidFill>
                  <a:srgbClr val="B0B0C0"/>
                </a:solidFill>
                <a:latin typeface="Segoe UI"/>
              </a:defRPr>
            </a:pPr>
            <a:r>
              <a:t>→ Layout dan struktur dirancang mengikuti best practices website sekolah modern. Referensi dari website-website sekolah premium. Development iteratif: code → preview → adjust → refine.</a:t>
            </a:r>
          </a:p>
        </p:txBody>
      </p:sp>
      <p:sp>
        <p:nvSpPr>
          <p:cNvPr id="12" name="TextBox 11"/>
          <p:cNvSpPr txBox="1"/>
          <p:nvPr/>
        </p:nvSpPr>
        <p:spPr>
          <a:xfrm>
            <a:off x="731520" y="4023360"/>
            <a:ext cx="10515600" cy="365760"/>
          </a:xfrm>
          <a:prstGeom prst="rect">
            <a:avLst/>
          </a:prstGeom>
          <a:noFill/>
        </p:spPr>
        <p:txBody>
          <a:bodyPr wrap="square">
            <a:spAutoFit/>
          </a:bodyPr>
          <a:lstStyle/>
          <a:p>
            <a:pPr algn="l">
              <a:defRPr sz="1300" b="1">
                <a:solidFill>
                  <a:srgbClr val="FFB800"/>
                </a:solidFill>
                <a:latin typeface="Segoe UI"/>
              </a:defRPr>
            </a:pPr>
            <a:r>
              <a:t>Q: Apakah ada style guide yang konsisten?</a:t>
            </a:r>
          </a:p>
        </p:txBody>
      </p:sp>
      <p:sp>
        <p:nvSpPr>
          <p:cNvPr id="13" name="TextBox 12"/>
          <p:cNvSpPr txBox="1"/>
          <p:nvPr/>
        </p:nvSpPr>
        <p:spPr>
          <a:xfrm>
            <a:off x="914400" y="4343400"/>
            <a:ext cx="10332720" cy="457200"/>
          </a:xfrm>
          <a:prstGeom prst="rect">
            <a:avLst/>
          </a:prstGeom>
          <a:noFill/>
        </p:spPr>
        <p:txBody>
          <a:bodyPr wrap="square">
            <a:spAutoFit/>
          </a:bodyPr>
          <a:lstStyle/>
          <a:p>
            <a:pPr algn="l">
              <a:defRPr sz="1200" b="0">
                <a:solidFill>
                  <a:srgbClr val="B0B0C0"/>
                </a:solidFill>
                <a:latin typeface="Segoe UI"/>
              </a:defRPr>
            </a:pPr>
            <a:r>
              <a:t>→ Ya! Tailwind config (tailwind.config.js) mendefinisikan: Warna brand (metland-blue, metland-yellow, metland-green). Font (Inter/Poppins). Animasi custom (spin-slow). Dark mode support. Konsistensi dijagardengan komponen reusable (16 Blade components).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PERTANYAAN TEKNIS MENDALAM (1/2)</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200" b="1">
                <a:solidFill>
                  <a:srgbClr val="FFB800"/>
                </a:solidFill>
                <a:latin typeface="Segoe UI"/>
              </a:defRPr>
            </a:pPr>
            <a:r>
              <a:t>Q: Jelaskan flow request dari user klik tombol sampai data tampil di browser.</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100" b="0">
                <a:solidFill>
                  <a:srgbClr val="B0B0C0"/>
                </a:solidFill>
                <a:latin typeface="Segoe UI"/>
              </a:defRPr>
            </a:pPr>
            <a:r>
              <a:t>→ 1) User klik → Browser kirim HTTP Request ke URL. 2) Request masuk ke public/index.php → Bootstrap Laravel. 3) Middleware dijalankan (auth, throttle, csrf). 4) Route matching di routes/web.php → panggil Controller method. 5) Controller query data via Model (Eloquent → SQL ke MySQL). 6) Data di-pass ke Blade View. 7) Blade compile HTML + Tailwind CSS. 8) Response dikirim ke browser → Render halaman.</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200" b="1">
                <a:solidFill>
                  <a:srgbClr val="FFB800"/>
                </a:solidFill>
                <a:latin typeface="Segoe UI"/>
              </a:defRPr>
            </a:pPr>
            <a:r>
              <a:t>Q: Bagaimana menangani N+1 query problem di Eloquent?</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100" b="0">
                <a:solidFill>
                  <a:srgbClr val="B0B0C0"/>
                </a:solidFill>
                <a:latin typeface="Segoe UI"/>
              </a:defRPr>
            </a:pPr>
            <a:r>
              <a:t>→ Menggunakan Eager Loading: Student::with('program')-&gt;get(). Contoh di StudentController: $query = Student::with('program'). Ini membuat 2 query (1 untuk students, 1 untuk programs) bukan N+1 query. Juga menggunakan pluck() untuk kolom spesifik.</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200" b="1">
                <a:solidFill>
                  <a:srgbClr val="FFB800"/>
                </a:solidFill>
                <a:latin typeface="Segoe UI"/>
              </a:defRPr>
            </a:pPr>
            <a:r>
              <a:t>Q: Apakah menggunakan API RESTful atau full server-side rendering?</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100" b="0">
                <a:solidFill>
                  <a:srgbClr val="B0B0C0"/>
                </a:solidFill>
                <a:latin typeface="Segoe UI"/>
              </a:defRPr>
            </a:pPr>
            <a:r>
              <a:t>→ Full Server-Side Rendering (SSR) dengan Blade templates. Tidak menggunakan API RESTful karena tidak perlu SPA. Beberapa endpoint AJAX: /news/load-more untuk infinite scroll. Semua form submit langsung ke server (POST/PUT/DELETE).</a:t>
            </a:r>
          </a:p>
        </p:txBody>
      </p:sp>
      <p:sp>
        <p:nvSpPr>
          <p:cNvPr id="10" name="TextBox 9"/>
          <p:cNvSpPr txBox="1"/>
          <p:nvPr/>
        </p:nvSpPr>
        <p:spPr>
          <a:xfrm>
            <a:off x="731520" y="3291840"/>
            <a:ext cx="10515600" cy="365760"/>
          </a:xfrm>
          <a:prstGeom prst="rect">
            <a:avLst/>
          </a:prstGeom>
          <a:noFill/>
        </p:spPr>
        <p:txBody>
          <a:bodyPr wrap="square">
            <a:spAutoFit/>
          </a:bodyPr>
          <a:lstStyle/>
          <a:p>
            <a:pPr algn="l">
              <a:defRPr sz="1200" b="1">
                <a:solidFill>
                  <a:srgbClr val="FFB800"/>
                </a:solidFill>
                <a:latin typeface="Segoe UI"/>
              </a:defRPr>
            </a:pPr>
            <a:r>
              <a:t>Q: Bagaimana struktur folder project Laravel?</a:t>
            </a:r>
          </a:p>
        </p:txBody>
      </p:sp>
      <p:sp>
        <p:nvSpPr>
          <p:cNvPr id="11" name="TextBox 10"/>
          <p:cNvSpPr txBox="1"/>
          <p:nvPr/>
        </p:nvSpPr>
        <p:spPr>
          <a:xfrm>
            <a:off x="914400" y="3611880"/>
            <a:ext cx="10332720" cy="457200"/>
          </a:xfrm>
          <a:prstGeom prst="rect">
            <a:avLst/>
          </a:prstGeom>
          <a:noFill/>
        </p:spPr>
        <p:txBody>
          <a:bodyPr wrap="square">
            <a:spAutoFit/>
          </a:bodyPr>
          <a:lstStyle/>
          <a:p>
            <a:pPr algn="l">
              <a:defRPr sz="1100" b="0">
                <a:solidFill>
                  <a:srgbClr val="B0B0C0"/>
                </a:solidFill>
                <a:latin typeface="Segoe UI"/>
              </a:defRPr>
            </a:pPr>
            <a:r>
              <a:t>→ app/ → Models(13), Controllers(20+), Middleware(3), Traits(3), Services(1), Mail(1). resources/views/ → 50+ Blade templates, 16 components. database/ → 22 migrations, 4+ seeders. routes/ → web.php (227 lines). config/ → 11 config files. public/ → Entry point + static assets.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731520"/>
          </a:xfrm>
          <a:prstGeom prst="rect">
            <a:avLst/>
          </a:prstGeom>
          <a:noFill/>
        </p:spPr>
        <p:txBody>
          <a:bodyPr wrap="square">
            <a:spAutoFit/>
          </a:bodyPr>
          <a:lstStyle/>
          <a:p>
            <a:pPr algn="l">
              <a:defRPr sz="3200" b="1">
                <a:solidFill>
                  <a:srgbClr val="FFFFFF"/>
                </a:solidFill>
                <a:latin typeface="Segoe UI"/>
              </a:defRPr>
            </a:pPr>
            <a:r>
              <a:t>💡  PERTANYAAN TEKNIS MENDALAM (2/2)</a:t>
            </a:r>
          </a:p>
        </p:txBody>
      </p:sp>
      <p:sp>
        <p:nvSpPr>
          <p:cNvPr id="4" name="TextBox 3"/>
          <p:cNvSpPr txBox="1"/>
          <p:nvPr/>
        </p:nvSpPr>
        <p:spPr>
          <a:xfrm>
            <a:off x="731520" y="1097280"/>
            <a:ext cx="10515600" cy="365760"/>
          </a:xfrm>
          <a:prstGeom prst="rect">
            <a:avLst/>
          </a:prstGeom>
          <a:noFill/>
        </p:spPr>
        <p:txBody>
          <a:bodyPr wrap="square">
            <a:spAutoFit/>
          </a:bodyPr>
          <a:lstStyle/>
          <a:p>
            <a:pPr algn="l">
              <a:defRPr sz="1300" b="1">
                <a:solidFill>
                  <a:srgbClr val="FFB800"/>
                </a:solidFill>
                <a:latin typeface="Segoe UI"/>
              </a:defRPr>
            </a:pPr>
            <a:r>
              <a:t>Q: Apakah ada unit test atau feature test?</a:t>
            </a:r>
          </a:p>
        </p:txBody>
      </p:sp>
      <p:sp>
        <p:nvSpPr>
          <p:cNvPr id="5" name="TextBox 4"/>
          <p:cNvSpPr txBox="1"/>
          <p:nvPr/>
        </p:nvSpPr>
        <p:spPr>
          <a:xfrm>
            <a:off x="914400" y="1417320"/>
            <a:ext cx="10332720" cy="457200"/>
          </a:xfrm>
          <a:prstGeom prst="rect">
            <a:avLst/>
          </a:prstGeom>
          <a:noFill/>
        </p:spPr>
        <p:txBody>
          <a:bodyPr wrap="square">
            <a:spAutoFit/>
          </a:bodyPr>
          <a:lstStyle/>
          <a:p>
            <a:pPr algn="l">
              <a:defRPr sz="1200" b="0">
                <a:solidFill>
                  <a:srgbClr val="B0B0C0"/>
                </a:solidFill>
                <a:latin typeface="Segoe UI"/>
              </a:defRPr>
            </a:pPr>
            <a:r>
              <a:t>→ Project menggunakan Pest PHP sebagai testing framework (pestphp/pest + pestphp/pest-plugin-laravel). Folder tests/ tersedia dengan struktur Unit dan Feature tests. Dijalankan: php artisan test atau composer test.</a:t>
            </a:r>
          </a:p>
        </p:txBody>
      </p:sp>
      <p:sp>
        <p:nvSpPr>
          <p:cNvPr id="6" name="TextBox 5"/>
          <p:cNvSpPr txBox="1"/>
          <p:nvPr/>
        </p:nvSpPr>
        <p:spPr>
          <a:xfrm>
            <a:off x="731520" y="1828800"/>
            <a:ext cx="10515600" cy="365760"/>
          </a:xfrm>
          <a:prstGeom prst="rect">
            <a:avLst/>
          </a:prstGeom>
          <a:noFill/>
        </p:spPr>
        <p:txBody>
          <a:bodyPr wrap="square">
            <a:spAutoFit/>
          </a:bodyPr>
          <a:lstStyle/>
          <a:p>
            <a:pPr algn="l">
              <a:defRPr sz="1300" b="1">
                <a:solidFill>
                  <a:srgbClr val="FFB800"/>
                </a:solidFill>
                <a:latin typeface="Segoe UI"/>
              </a:defRPr>
            </a:pPr>
            <a:r>
              <a:t>Q: Jika website down tiba-tiba, langkah apa yang pertama dilakukan?</a:t>
            </a:r>
          </a:p>
        </p:txBody>
      </p:sp>
      <p:sp>
        <p:nvSpPr>
          <p:cNvPr id="7" name="TextBox 6"/>
          <p:cNvSpPr txBox="1"/>
          <p:nvPr/>
        </p:nvSpPr>
        <p:spPr>
          <a:xfrm>
            <a:off x="914400" y="2148840"/>
            <a:ext cx="10332720" cy="457200"/>
          </a:xfrm>
          <a:prstGeom prst="rect">
            <a:avLst/>
          </a:prstGeom>
          <a:noFill/>
        </p:spPr>
        <p:txBody>
          <a:bodyPr wrap="square">
            <a:spAutoFit/>
          </a:bodyPr>
          <a:lstStyle/>
          <a:p>
            <a:pPr algn="l">
              <a:defRPr sz="1200" b="0">
                <a:solidFill>
                  <a:srgbClr val="B0B0C0"/>
                </a:solidFill>
                <a:latin typeface="Segoe UI"/>
              </a:defRPr>
            </a:pPr>
            <a:r>
              <a:t>→ 1) Cek Vercel Dashboard untuk status deployment. 2) Cek error log: php artisan pail atau LOG_CHANNEL=stderr di Vercel. 3) Cek database connection (MySQL). 4) Cek .env configuration. 5) Clear cache: php artisan config:clear &amp;&amp; php artisan cache:clear. 6) Re-deploy jika perlu. 7) Cek rate limit kalau traffic spike.</a:t>
            </a:r>
          </a:p>
        </p:txBody>
      </p:sp>
      <p:sp>
        <p:nvSpPr>
          <p:cNvPr id="8" name="TextBox 7"/>
          <p:cNvSpPr txBox="1"/>
          <p:nvPr/>
        </p:nvSpPr>
        <p:spPr>
          <a:xfrm>
            <a:off x="731520" y="2560320"/>
            <a:ext cx="10515600" cy="365760"/>
          </a:xfrm>
          <a:prstGeom prst="rect">
            <a:avLst/>
          </a:prstGeom>
          <a:noFill/>
        </p:spPr>
        <p:txBody>
          <a:bodyPr wrap="square">
            <a:spAutoFit/>
          </a:bodyPr>
          <a:lstStyle/>
          <a:p>
            <a:pPr algn="l">
              <a:defRPr sz="1300" b="1">
                <a:solidFill>
                  <a:srgbClr val="FFB800"/>
                </a:solidFill>
                <a:latin typeface="Segoe UI"/>
              </a:defRPr>
            </a:pPr>
            <a:r>
              <a:t>Q: Bagaimana menangani concurrent user yang banyak?</a:t>
            </a:r>
          </a:p>
        </p:txBody>
      </p:sp>
      <p:sp>
        <p:nvSpPr>
          <p:cNvPr id="9" name="TextBox 8"/>
          <p:cNvSpPr txBox="1"/>
          <p:nvPr/>
        </p:nvSpPr>
        <p:spPr>
          <a:xfrm>
            <a:off x="914400" y="2880360"/>
            <a:ext cx="10332720" cy="457200"/>
          </a:xfrm>
          <a:prstGeom prst="rect">
            <a:avLst/>
          </a:prstGeom>
          <a:noFill/>
        </p:spPr>
        <p:txBody>
          <a:bodyPr wrap="square">
            <a:spAutoFit/>
          </a:bodyPr>
          <a:lstStyle/>
          <a:p>
            <a:pPr algn="l">
              <a:defRPr sz="1200" b="0">
                <a:solidFill>
                  <a:srgbClr val="B0B0C0"/>
                </a:solidFill>
                <a:latin typeface="Segoe UI"/>
              </a:defRPr>
            </a:pPr>
            <a:r>
              <a:t>→ 1) Vercel Serverless auto-scale: function di-deploy ke multiple edge locations, scale otomatis tanpa limit. 2) Database connection pooling via MySQL hosting. 3) Rate Limiting mencegah abuse (throttle middleware). 4) Queue system untuk proses berat (email sending). 5) Cache untuk mengurangi database queries. 6) CDN untuk static assets. 7) Pagination untuk mengurangi data per request.</a:t>
            </a:r>
          </a:p>
        </p:txBody>
      </p:sp>
      <p:sp>
        <p:nvSpPr>
          <p:cNvPr id="10" name="TextBox 9"/>
          <p:cNvSpPr txBox="1"/>
          <p:nvPr/>
        </p:nvSpPr>
        <p:spPr>
          <a:xfrm>
            <a:off x="731520" y="3840480"/>
            <a:ext cx="10058400" cy="365760"/>
          </a:xfrm>
          <a:prstGeom prst="rect">
            <a:avLst/>
          </a:prstGeom>
          <a:noFill/>
        </p:spPr>
        <p:txBody>
          <a:bodyPr wrap="square">
            <a:spAutoFit/>
          </a:bodyPr>
          <a:lstStyle/>
          <a:p>
            <a:pPr algn="l">
              <a:defRPr sz="1800" b="1">
                <a:solidFill>
                  <a:srgbClr val="007BFF"/>
                </a:solidFill>
                <a:latin typeface="Segoe UI"/>
              </a:defRPr>
            </a:pPr>
            <a:r>
              <a:t>📊 Ringkasan Arsitektur Keamanan:</a:t>
            </a:r>
          </a:p>
        </p:txBody>
      </p:sp>
      <p:sp>
        <p:nvSpPr>
          <p:cNvPr id="11" name="TextBox 10"/>
          <p:cNvSpPr txBox="1"/>
          <p:nvPr/>
        </p:nvSpPr>
        <p:spPr>
          <a:xfrm>
            <a:off x="914400" y="4297680"/>
            <a:ext cx="10058400" cy="2286000"/>
          </a:xfrm>
          <a:prstGeom prst="rect">
            <a:avLst/>
          </a:prstGeom>
          <a:noFill/>
        </p:spPr>
        <p:txBody>
          <a:bodyPr wrap="square">
            <a:spAutoFit/>
          </a:bodyPr>
          <a:lstStyle/>
          <a:p>
            <a:pPr>
              <a:spcAft>
                <a:spcPts val="400"/>
              </a:spcAft>
              <a:defRPr sz="1200">
                <a:solidFill>
                  <a:srgbClr val="B0B0C0"/>
                </a:solidFill>
                <a:latin typeface="Segoe UI"/>
              </a:defRPr>
            </a:pPr>
            <a:r>
              <a:t>🔐 Autentikasi: Laravel Breeze + Custom Admin Guard + 2FA (Google Authenticator)</a:t>
            </a:r>
          </a:p>
          <a:p>
            <a:pPr>
              <a:spcAft>
                <a:spcPts val="400"/>
              </a:spcAft>
              <a:defRPr sz="1200">
                <a:solidFill>
                  <a:srgbClr val="B0B0C0"/>
                </a:solidFill>
                <a:latin typeface="Segoe UI"/>
              </a:defRPr>
            </a:pPr>
            <a:r>
              <a:t>🛡️ Otorisasi: RBAC dengan Role &amp; Permission (Many-to-Many) + Super Admin bypass</a:t>
            </a:r>
          </a:p>
          <a:p>
            <a:pPr>
              <a:spcAft>
                <a:spcPts val="400"/>
              </a:spcAft>
              <a:defRPr sz="1200">
                <a:solidFill>
                  <a:srgbClr val="B0B0C0"/>
                </a:solidFill>
                <a:latin typeface="Segoe UI"/>
              </a:defRPr>
            </a:pPr>
            <a:r>
              <a:t>🚦 Rate Limiting: throttle:5,1 (login), throttle:3,1 (PPDB), throttle:10,1 (status check)</a:t>
            </a:r>
          </a:p>
          <a:p>
            <a:pPr>
              <a:spcAft>
                <a:spcPts val="400"/>
              </a:spcAft>
              <a:defRPr sz="1200">
                <a:solidFill>
                  <a:srgbClr val="B0B0C0"/>
                </a:solidFill>
                <a:latin typeface="Segoe UI"/>
              </a:defRPr>
            </a:pPr>
            <a:r>
              <a:t>📝 Audit Log: Trait Auditable → track semua create/update/delete dengan IP &amp; user agent</a:t>
            </a:r>
          </a:p>
          <a:p>
            <a:pPr>
              <a:spcAft>
                <a:spcPts val="400"/>
              </a:spcAft>
              <a:defRPr sz="1200">
                <a:solidFill>
                  <a:srgbClr val="B0B0C0"/>
                </a:solidFill>
                <a:latin typeface="Segoe UI"/>
              </a:defRPr>
            </a:pPr>
            <a:r>
              <a:t>🔍 File Scanner: FileUploadScanner service — validasi MIME, ukuran, dan konten file</a:t>
            </a:r>
          </a:p>
          <a:p>
            <a:pPr>
              <a:spcAft>
                <a:spcPts val="400"/>
              </a:spcAft>
              <a:defRPr sz="1200">
                <a:solidFill>
                  <a:srgbClr val="B0B0C0"/>
                </a:solidFill>
                <a:latin typeface="Segoe UI"/>
              </a:defRPr>
            </a:pPr>
            <a:r>
              <a:t>📧 Email Verification: Token-based email verification untuk pendaftaran PPDB</a:t>
            </a:r>
          </a:p>
          <a:p>
            <a:pPr>
              <a:spcAft>
                <a:spcPts val="400"/>
              </a:spcAft>
              <a:defRPr sz="1200">
                <a:solidFill>
                  <a:srgbClr val="B0B0C0"/>
                </a:solidFill>
                <a:latin typeface="Segoe UI"/>
              </a:defRPr>
            </a:pPr>
            <a:r>
              <a:t>🔑 Encryption: AES-256-CBC. Password: bcrypt 12 rounds. Session: encrypted cookies (Vercel)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731520"/>
          </a:xfrm>
          <a:prstGeom prst="rect">
            <a:avLst/>
          </a:prstGeom>
          <a:noFill/>
        </p:spPr>
        <p:txBody>
          <a:bodyPr wrap="square">
            <a:spAutoFit/>
          </a:bodyPr>
          <a:lstStyle/>
          <a:p>
            <a:pPr algn="ctr">
              <a:defRPr sz="4800" b="1">
                <a:solidFill>
                  <a:srgbClr val="FFFFFF"/>
                </a:solidFill>
                <a:latin typeface="Segoe UI"/>
              </a:defRPr>
            </a:pPr>
            <a:r>
              <a:t>TERIMA KASIH</a:t>
            </a:r>
          </a:p>
        </p:txBody>
      </p:sp>
      <p:sp>
        <p:nvSpPr>
          <p:cNvPr id="4" name="Rectangle 3"/>
          <p:cNvSpPr/>
          <p:nvPr/>
        </p:nvSpPr>
        <p:spPr>
          <a:xfrm>
            <a:off x="4572000" y="2286000"/>
            <a:ext cx="2743200" cy="36576"/>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058400" cy="548640"/>
          </a:xfrm>
          <a:prstGeom prst="rect">
            <a:avLst/>
          </a:prstGeom>
          <a:noFill/>
        </p:spPr>
        <p:txBody>
          <a:bodyPr wrap="square">
            <a:spAutoFit/>
          </a:bodyPr>
          <a:lstStyle/>
          <a:p>
            <a:pPr algn="ctr">
              <a:defRPr sz="2400" b="1">
                <a:solidFill>
                  <a:srgbClr val="007BFF"/>
                </a:solidFill>
                <a:latin typeface="Segoe UI"/>
              </a:defRPr>
            </a:pPr>
            <a:r>
              <a:t>Website SMK Pariwisata Metland School</a:t>
            </a:r>
          </a:p>
        </p:txBody>
      </p:sp>
      <p:sp>
        <p:nvSpPr>
          <p:cNvPr id="6" name="TextBox 5"/>
          <p:cNvSpPr txBox="1"/>
          <p:nvPr/>
        </p:nvSpPr>
        <p:spPr>
          <a:xfrm>
            <a:off x="2743200" y="3474720"/>
            <a:ext cx="6400800" cy="2286000"/>
          </a:xfrm>
          <a:prstGeom prst="rect">
            <a:avLst/>
          </a:prstGeom>
          <a:noFill/>
        </p:spPr>
        <p:txBody>
          <a:bodyPr wrap="square">
            <a:spAutoFit/>
          </a:bodyPr>
          <a:lstStyle/>
          <a:p>
            <a:pPr>
              <a:spcAft>
                <a:spcPts val="600"/>
              </a:spcAft>
              <a:defRPr sz="1500">
                <a:solidFill>
                  <a:srgbClr val="B0B0C0"/>
                </a:solidFill>
                <a:latin typeface="Segoe UI"/>
              </a:defRPr>
            </a:pPr>
            <a:r>
              <a:t>✅ Laravel 12 + PHP 8.2 — Modern MVC Architecture</a:t>
            </a:r>
          </a:p>
          <a:p>
            <a:pPr>
              <a:spcAft>
                <a:spcPts val="600"/>
              </a:spcAft>
              <a:defRPr sz="1500">
                <a:solidFill>
                  <a:srgbClr val="B0B0C0"/>
                </a:solidFill>
                <a:latin typeface="Segoe UI"/>
              </a:defRPr>
            </a:pPr>
            <a:r>
              <a:t>✅ Tailwind CSS 4 + Alpine.js — Premium Responsive UI</a:t>
            </a:r>
          </a:p>
          <a:p>
            <a:pPr>
              <a:spcAft>
                <a:spcPts val="600"/>
              </a:spcAft>
              <a:defRPr sz="1500">
                <a:solidFill>
                  <a:srgbClr val="B0B0C0"/>
                </a:solidFill>
                <a:latin typeface="Segoe UI"/>
              </a:defRPr>
            </a:pPr>
            <a:r>
              <a:t>✅ 2FA + RBAC + Audit Log — Enterprise-Grade Security</a:t>
            </a:r>
          </a:p>
          <a:p>
            <a:pPr>
              <a:spcAft>
                <a:spcPts val="600"/>
              </a:spcAft>
              <a:defRPr sz="1500">
                <a:solidFill>
                  <a:srgbClr val="B0B0C0"/>
                </a:solidFill>
                <a:latin typeface="Segoe UI"/>
              </a:defRPr>
            </a:pPr>
            <a:r>
              <a:t>✅ PPDB Online + Email Verification — Digital Solution</a:t>
            </a:r>
          </a:p>
          <a:p>
            <a:pPr>
              <a:spcAft>
                <a:spcPts val="600"/>
              </a:spcAft>
              <a:defRPr sz="1500">
                <a:solidFill>
                  <a:srgbClr val="B0B0C0"/>
                </a:solidFill>
                <a:latin typeface="Segoe UI"/>
              </a:defRPr>
            </a:pPr>
            <a:r>
              <a:t>✅ Bilingual (ID/EN) — International Ready</a:t>
            </a:r>
          </a:p>
          <a:p>
            <a:pPr>
              <a:spcAft>
                <a:spcPts val="600"/>
              </a:spcAft>
              <a:defRPr sz="1500">
                <a:solidFill>
                  <a:srgbClr val="B0B0C0"/>
                </a:solidFill>
                <a:latin typeface="Segoe UI"/>
              </a:defRPr>
            </a:pPr>
            <a:r>
              <a:t>✅ Admin Panel Lengkap — Full Content Management</a:t>
            </a:r>
          </a:p>
          <a:p>
            <a:pPr>
              <a:spcAft>
                <a:spcPts val="600"/>
              </a:spcAft>
              <a:defRPr sz="1500">
                <a:solidFill>
                  <a:srgbClr val="B0B0C0"/>
                </a:solidFill>
                <a:latin typeface="Segoe UI"/>
              </a:defRPr>
            </a:pPr>
            <a:r>
              <a:t>✅ Vercel Serverless — Auto-Scale Cloud Deployment</a:t>
            </a:r>
          </a:p>
        </p:txBody>
      </p:sp>
      <p:sp>
        <p:nvSpPr>
          <p:cNvPr id="7" name="TextBox 6"/>
          <p:cNvSpPr txBox="1"/>
          <p:nvPr/>
        </p:nvSpPr>
        <p:spPr>
          <a:xfrm>
            <a:off x="914400" y="5760720"/>
            <a:ext cx="10058400" cy="457200"/>
          </a:xfrm>
          <a:prstGeom prst="rect">
            <a:avLst/>
          </a:prstGeom>
          <a:noFill/>
        </p:spPr>
        <p:txBody>
          <a:bodyPr wrap="square">
            <a:spAutoFit/>
          </a:bodyPr>
          <a:lstStyle/>
          <a:p>
            <a:pPr algn="ctr">
              <a:defRPr sz="1400" b="0">
                <a:solidFill>
                  <a:srgbClr val="808090"/>
                </a:solidFill>
                <a:latin typeface="Segoe UI"/>
              </a:defRPr>
            </a:pPr>
            <a:r>
              <a:t>Kritik dan saran sangat kami harapkan untuk pengembangan selanjutnya.</a:t>
            </a:r>
          </a:p>
        </p:txBody>
      </p:sp>
      <p:sp>
        <p:nvSpPr>
          <p:cNvPr id="8" name="Rectangle 7"/>
          <p:cNvSpPr/>
          <p:nvPr/>
        </p:nvSpPr>
        <p:spPr>
          <a:xfrm>
            <a:off x="0" y="6784848"/>
            <a:ext cx="12191695" cy="73152"/>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